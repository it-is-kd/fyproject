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59" r:id="rId7"/>
    <p:sldId id="262" r:id="rId8"/>
    <p:sldId id="263" r:id="rId9"/>
    <p:sldId id="266" r:id="rId10"/>
    <p:sldId id="264" r:id="rId11"/>
    <p:sldId id="274" r:id="rId12"/>
    <p:sldId id="272" r:id="rId13"/>
    <p:sldId id="275" r:id="rId14"/>
    <p:sldId id="268" r:id="rId15"/>
    <p:sldId id="265" r:id="rId16"/>
    <p:sldId id="267" r:id="rId17"/>
    <p:sldId id="276" r:id="rId18"/>
    <p:sldId id="277" r:id="rId19"/>
    <p:sldId id="273" r:id="rId20"/>
    <p:sldId id="269" r:id="rId21"/>
    <p:sldId id="27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7C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68"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5/20/2025</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5/20/2025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5/20/2025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5/20/2025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5/20/2025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5/20/2025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5/20/2025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5/20/2025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5/20/2025</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44.svg"/><Relationship Id="rId7" Type="http://schemas.openxmlformats.org/officeDocument/2006/relationships/image" Target="../media/image48.svg"/><Relationship Id="rId12" Type="http://schemas.openxmlformats.org/officeDocument/2006/relationships/image" Target="../media/image53.png"/><Relationship Id="rId17" Type="http://schemas.openxmlformats.org/officeDocument/2006/relationships/image" Target="../media/image58.svg"/><Relationship Id="rId2" Type="http://schemas.openxmlformats.org/officeDocument/2006/relationships/image" Target="../media/image43.png"/><Relationship Id="rId16"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6.svg"/><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svg"/><Relationship Id="rId1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B44182-4038-2F49-7215-CD8DA3139C3D}"/>
              </a:ext>
            </a:extLst>
          </p:cNvPr>
          <p:cNvSpPr/>
          <p:nvPr/>
        </p:nvSpPr>
        <p:spPr>
          <a:xfrm>
            <a:off x="4452994" y="2782400"/>
            <a:ext cx="3302507"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Albumify</a:t>
            </a:r>
          </a:p>
        </p:txBody>
      </p:sp>
      <p:pic>
        <p:nvPicPr>
          <p:cNvPr id="6" name="Graphic 5" descr="Images">
            <a:extLst>
              <a:ext uri="{FF2B5EF4-FFF2-40B4-BE49-F238E27FC236}">
                <a16:creationId xmlns:a16="http://schemas.microsoft.com/office/drawing/2014/main" id="{475191BE-A6F8-DFA8-55C2-7CC7914930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5203" y="1818303"/>
            <a:ext cx="674280" cy="674280"/>
          </a:xfrm>
          <a:prstGeom prst="rect">
            <a:avLst/>
          </a:prstGeom>
        </p:spPr>
      </p:pic>
      <p:pic>
        <p:nvPicPr>
          <p:cNvPr id="8" name="Graphic 7" descr="Image">
            <a:extLst>
              <a:ext uri="{FF2B5EF4-FFF2-40B4-BE49-F238E27FC236}">
                <a16:creationId xmlns:a16="http://schemas.microsoft.com/office/drawing/2014/main" id="{E2C7B88C-F34F-FC04-514E-A73267830E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48496" y="3851931"/>
            <a:ext cx="674280" cy="674280"/>
          </a:xfrm>
          <a:prstGeom prst="rect">
            <a:avLst/>
          </a:prstGeom>
        </p:spPr>
      </p:pic>
      <p:pic>
        <p:nvPicPr>
          <p:cNvPr id="10" name="Graphic 9" descr="Camera">
            <a:extLst>
              <a:ext uri="{FF2B5EF4-FFF2-40B4-BE49-F238E27FC236}">
                <a16:creationId xmlns:a16="http://schemas.microsoft.com/office/drawing/2014/main" id="{64648F95-9E68-1E3F-50E6-E8E97F1FFE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13997" y="4733441"/>
            <a:ext cx="674280" cy="674280"/>
          </a:xfrm>
          <a:prstGeom prst="rect">
            <a:avLst/>
          </a:prstGeom>
        </p:spPr>
      </p:pic>
      <p:pic>
        <p:nvPicPr>
          <p:cNvPr id="12" name="Graphic 11" descr="Film reel">
            <a:extLst>
              <a:ext uri="{FF2B5EF4-FFF2-40B4-BE49-F238E27FC236}">
                <a16:creationId xmlns:a16="http://schemas.microsoft.com/office/drawing/2014/main" id="{E4DCE68B-8C23-3F50-46A7-9721A5DFBF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85718" y="3923850"/>
            <a:ext cx="674280" cy="674280"/>
          </a:xfrm>
          <a:prstGeom prst="rect">
            <a:avLst/>
          </a:prstGeom>
        </p:spPr>
      </p:pic>
      <p:pic>
        <p:nvPicPr>
          <p:cNvPr id="14" name="Graphic 13" descr="Open folder">
            <a:extLst>
              <a:ext uri="{FF2B5EF4-FFF2-40B4-BE49-F238E27FC236}">
                <a16:creationId xmlns:a16="http://schemas.microsoft.com/office/drawing/2014/main" id="{CA216E03-BDD2-F9C8-3BF9-9912F098F33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49965" y="4733441"/>
            <a:ext cx="674280" cy="674280"/>
          </a:xfrm>
          <a:prstGeom prst="rect">
            <a:avLst/>
          </a:prstGeom>
        </p:spPr>
      </p:pic>
      <p:pic>
        <p:nvPicPr>
          <p:cNvPr id="16" name="Graphic 15" descr="Male profile">
            <a:extLst>
              <a:ext uri="{FF2B5EF4-FFF2-40B4-BE49-F238E27FC236}">
                <a16:creationId xmlns:a16="http://schemas.microsoft.com/office/drawing/2014/main" id="{057519B4-186C-1796-E636-61DE1AF4117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42993" y="1337488"/>
            <a:ext cx="674280" cy="674280"/>
          </a:xfrm>
          <a:prstGeom prst="rect">
            <a:avLst/>
          </a:prstGeom>
        </p:spPr>
      </p:pic>
      <p:pic>
        <p:nvPicPr>
          <p:cNvPr id="18" name="Graphic 17" descr="Internet">
            <a:extLst>
              <a:ext uri="{FF2B5EF4-FFF2-40B4-BE49-F238E27FC236}">
                <a16:creationId xmlns:a16="http://schemas.microsoft.com/office/drawing/2014/main" id="{60104183-60E2-7D64-F904-A8A07C4E417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285718" y="1961920"/>
            <a:ext cx="674280" cy="674280"/>
          </a:xfrm>
          <a:prstGeom prst="rect">
            <a:avLst/>
          </a:prstGeom>
        </p:spPr>
      </p:pic>
      <p:pic>
        <p:nvPicPr>
          <p:cNvPr id="25" name="Graphic 24" descr="Angel face with no fill">
            <a:extLst>
              <a:ext uri="{FF2B5EF4-FFF2-40B4-BE49-F238E27FC236}">
                <a16:creationId xmlns:a16="http://schemas.microsoft.com/office/drawing/2014/main" id="{5B5A0919-C6E0-4A98-2B60-3A0EA1BDF2E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864661" y="2905928"/>
            <a:ext cx="139698" cy="139698"/>
          </a:xfrm>
          <a:prstGeom prst="rect">
            <a:avLst/>
          </a:prstGeom>
        </p:spPr>
      </p:pic>
      <p:sp>
        <p:nvSpPr>
          <p:cNvPr id="26" name="Arc 25">
            <a:extLst>
              <a:ext uri="{FF2B5EF4-FFF2-40B4-BE49-F238E27FC236}">
                <a16:creationId xmlns:a16="http://schemas.microsoft.com/office/drawing/2014/main" id="{10161861-01C9-EE25-DB89-69FCC485E01E}"/>
              </a:ext>
            </a:extLst>
          </p:cNvPr>
          <p:cNvSpPr/>
          <p:nvPr/>
        </p:nvSpPr>
        <p:spPr>
          <a:xfrm rot="3871165" flipV="1">
            <a:off x="3214034" y="2339142"/>
            <a:ext cx="1798201" cy="24525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7" name="Arc 26">
            <a:extLst>
              <a:ext uri="{FF2B5EF4-FFF2-40B4-BE49-F238E27FC236}">
                <a16:creationId xmlns:a16="http://schemas.microsoft.com/office/drawing/2014/main" id="{42B18354-D685-EFD8-A9AD-1D9131E88C7A}"/>
              </a:ext>
            </a:extLst>
          </p:cNvPr>
          <p:cNvSpPr/>
          <p:nvPr/>
        </p:nvSpPr>
        <p:spPr>
          <a:xfrm rot="1567753">
            <a:off x="3985044" y="1341445"/>
            <a:ext cx="2976183" cy="1757986"/>
          </a:xfrm>
          <a:prstGeom prst="arc">
            <a:avLst>
              <a:gd name="adj1" fmla="val 18505222"/>
              <a:gd name="adj2" fmla="val 0"/>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Arc 27">
            <a:extLst>
              <a:ext uri="{FF2B5EF4-FFF2-40B4-BE49-F238E27FC236}">
                <a16:creationId xmlns:a16="http://schemas.microsoft.com/office/drawing/2014/main" id="{29C86405-5B89-E837-733D-93091FF15042}"/>
              </a:ext>
            </a:extLst>
          </p:cNvPr>
          <p:cNvSpPr/>
          <p:nvPr/>
        </p:nvSpPr>
        <p:spPr>
          <a:xfrm flipH="1">
            <a:off x="7466368" y="2199228"/>
            <a:ext cx="2664957" cy="1724622"/>
          </a:xfrm>
          <a:prstGeom prst="arc">
            <a:avLst>
              <a:gd name="adj1" fmla="val 18258718"/>
              <a:gd name="adj2" fmla="val 0"/>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Arc 28">
            <a:extLst>
              <a:ext uri="{FF2B5EF4-FFF2-40B4-BE49-F238E27FC236}">
                <a16:creationId xmlns:a16="http://schemas.microsoft.com/office/drawing/2014/main" id="{36ABBB39-FB01-8BC1-B338-D85343FC2E37}"/>
              </a:ext>
            </a:extLst>
          </p:cNvPr>
          <p:cNvSpPr/>
          <p:nvPr/>
        </p:nvSpPr>
        <p:spPr>
          <a:xfrm rot="5400000" flipH="1">
            <a:off x="6282302" y="3615760"/>
            <a:ext cx="2664957" cy="2346791"/>
          </a:xfrm>
          <a:prstGeom prst="arc">
            <a:avLst>
              <a:gd name="adj1" fmla="val 18739410"/>
              <a:gd name="adj2" fmla="val 0"/>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2" name="Arc 31">
            <a:extLst>
              <a:ext uri="{FF2B5EF4-FFF2-40B4-BE49-F238E27FC236}">
                <a16:creationId xmlns:a16="http://schemas.microsoft.com/office/drawing/2014/main" id="{705D7E3E-30C2-F4B4-2AF4-4AFFB7C25C6D}"/>
              </a:ext>
            </a:extLst>
          </p:cNvPr>
          <p:cNvSpPr/>
          <p:nvPr/>
        </p:nvSpPr>
        <p:spPr>
          <a:xfrm rot="5042565">
            <a:off x="2807862" y="2003217"/>
            <a:ext cx="2116667" cy="2368118"/>
          </a:xfrm>
          <a:prstGeom prst="arc">
            <a:avLst>
              <a:gd name="adj1" fmla="val 17853820"/>
              <a:gd name="adj2" fmla="val 0"/>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3" name="Arc 32">
            <a:extLst>
              <a:ext uri="{FF2B5EF4-FFF2-40B4-BE49-F238E27FC236}">
                <a16:creationId xmlns:a16="http://schemas.microsoft.com/office/drawing/2014/main" id="{38968BD6-9E39-7597-E838-DB0D3DA27398}"/>
              </a:ext>
            </a:extLst>
          </p:cNvPr>
          <p:cNvSpPr/>
          <p:nvPr/>
        </p:nvSpPr>
        <p:spPr>
          <a:xfrm rot="19263973" flipH="1">
            <a:off x="6813512" y="3305059"/>
            <a:ext cx="802320" cy="2567134"/>
          </a:xfrm>
          <a:prstGeom prst="arc">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Arc 33">
            <a:extLst>
              <a:ext uri="{FF2B5EF4-FFF2-40B4-BE49-F238E27FC236}">
                <a16:creationId xmlns:a16="http://schemas.microsoft.com/office/drawing/2014/main" id="{978F06E6-A756-FAA4-4C6C-CDE05F262B04}"/>
              </a:ext>
            </a:extLst>
          </p:cNvPr>
          <p:cNvSpPr/>
          <p:nvPr/>
        </p:nvSpPr>
        <p:spPr>
          <a:xfrm rot="2309313">
            <a:off x="4816560" y="3437369"/>
            <a:ext cx="674280" cy="2129135"/>
          </a:xfrm>
          <a:prstGeom prst="arc">
            <a:avLst>
              <a:gd name="adj1" fmla="val 16222352"/>
              <a:gd name="adj2" fmla="val 1262615"/>
            </a:avLst>
          </a:prstGeom>
          <a:no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148570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E30768-90FE-DD7D-EA7C-28CD679FBD85}"/>
              </a:ext>
            </a:extLst>
          </p:cNvPr>
          <p:cNvSpPr/>
          <p:nvPr/>
        </p:nvSpPr>
        <p:spPr>
          <a:xfrm>
            <a:off x="702486" y="850858"/>
            <a:ext cx="6141425"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Project Presented by:</a:t>
            </a:r>
          </a:p>
        </p:txBody>
      </p:sp>
      <p:pic>
        <p:nvPicPr>
          <p:cNvPr id="5" name="Picture 4">
            <a:extLst>
              <a:ext uri="{FF2B5EF4-FFF2-40B4-BE49-F238E27FC236}">
                <a16:creationId xmlns:a16="http://schemas.microsoft.com/office/drawing/2014/main" id="{A3644AAD-E013-6905-1BA6-4470395BF72E}"/>
              </a:ext>
            </a:extLst>
          </p:cNvPr>
          <p:cNvPicPr>
            <a:picLocks noChangeAspect="1"/>
          </p:cNvPicPr>
          <p:nvPr/>
        </p:nvPicPr>
        <p:blipFill>
          <a:blip r:embed="rId2"/>
          <a:stretch>
            <a:fillRect/>
          </a:stretch>
        </p:blipFill>
        <p:spPr>
          <a:xfrm>
            <a:off x="8848822" y="2334991"/>
            <a:ext cx="2754775" cy="3646025"/>
          </a:xfrm>
          <a:prstGeom prst="rect">
            <a:avLst/>
          </a:prstGeom>
        </p:spPr>
      </p:pic>
      <p:sp>
        <p:nvSpPr>
          <p:cNvPr id="6" name="TextBox 5">
            <a:extLst>
              <a:ext uri="{FF2B5EF4-FFF2-40B4-BE49-F238E27FC236}">
                <a16:creationId xmlns:a16="http://schemas.microsoft.com/office/drawing/2014/main" id="{B985E99E-C862-73EF-A094-9D560277A901}"/>
              </a:ext>
            </a:extLst>
          </p:cNvPr>
          <p:cNvSpPr txBox="1"/>
          <p:nvPr/>
        </p:nvSpPr>
        <p:spPr>
          <a:xfrm>
            <a:off x="702486" y="2559493"/>
            <a:ext cx="8400418" cy="3631763"/>
          </a:xfrm>
          <a:prstGeom prst="rect">
            <a:avLst/>
          </a:prstGeom>
          <a:noFill/>
        </p:spPr>
        <p:txBody>
          <a:bodyPr wrap="square" rtlCol="0">
            <a:spAutoFit/>
          </a:bodyPr>
          <a:lstStyle/>
          <a:p>
            <a:pPr marL="457200" indent="-457200">
              <a:buFont typeface="+mj-lt"/>
              <a:buAutoNum type="arabicPeriod"/>
            </a:pPr>
            <a:r>
              <a:rPr lang="en-US" sz="2000" dirty="0"/>
              <a:t>Khush Desai</a:t>
            </a:r>
          </a:p>
          <a:p>
            <a:pPr marL="457200" indent="-457200">
              <a:buFont typeface="+mj-lt"/>
              <a:buAutoNum type="arabicPeriod"/>
            </a:pPr>
            <a:r>
              <a:rPr lang="en-US" sz="2000" dirty="0" err="1"/>
              <a:t>Sairantri</a:t>
            </a:r>
            <a:r>
              <a:rPr lang="en-US" sz="2000" dirty="0"/>
              <a:t> Pathak</a:t>
            </a:r>
          </a:p>
          <a:p>
            <a:pPr marL="457200" indent="-457200">
              <a:buFont typeface="+mj-lt"/>
              <a:buAutoNum type="arabicPeriod"/>
            </a:pPr>
            <a:r>
              <a:rPr lang="en-IN" sz="2000" dirty="0"/>
              <a:t>Atreyee Bose</a:t>
            </a:r>
          </a:p>
          <a:p>
            <a:pPr marL="457200" indent="-457200">
              <a:buFont typeface="+mj-lt"/>
              <a:buAutoNum type="arabicPeriod"/>
            </a:pPr>
            <a:r>
              <a:rPr lang="en-IN" sz="2000" dirty="0"/>
              <a:t>Pratik </a:t>
            </a:r>
            <a:r>
              <a:rPr lang="en-IN" sz="2000" dirty="0" err="1"/>
              <a:t>Adhikary</a:t>
            </a:r>
            <a:endParaRPr lang="en-IN" sz="2000" dirty="0"/>
          </a:p>
          <a:p>
            <a:endParaRPr lang="en-IN" sz="2000" dirty="0"/>
          </a:p>
          <a:p>
            <a:r>
              <a:rPr lang="en-IN" sz="2000" dirty="0"/>
              <a:t>Under the guidance of:  </a:t>
            </a:r>
            <a:r>
              <a:rPr lang="en-IN" sz="2000" b="1" dirty="0"/>
              <a:t>Mr. Abhishek Saha</a:t>
            </a:r>
          </a:p>
          <a:p>
            <a:endParaRPr lang="en-IN" sz="2000" dirty="0"/>
          </a:p>
          <a:p>
            <a:r>
              <a:rPr lang="en-US" dirty="0"/>
              <a:t>A Project Submitted in Partial Fulfillment of the Requirements for the Degree of Bachelor of Technology in Computer Science and Business Systems.</a:t>
            </a:r>
          </a:p>
          <a:p>
            <a:pPr algn="l"/>
            <a:endParaRPr lang="en-IN" sz="1800" b="0" i="0" u="none" strike="noStrike" baseline="0" dirty="0">
              <a:solidFill>
                <a:srgbClr val="000000"/>
              </a:solidFill>
              <a:latin typeface="Times New Roman" panose="02020603050405020304" pitchFamily="18" charset="0"/>
            </a:endParaRPr>
          </a:p>
          <a:p>
            <a:r>
              <a:rPr lang="en-US" dirty="0"/>
              <a:t>Department of Computer Science &amp; Business System </a:t>
            </a:r>
          </a:p>
        </p:txBody>
      </p:sp>
      <p:sp>
        <p:nvSpPr>
          <p:cNvPr id="8" name="TextBox 7">
            <a:extLst>
              <a:ext uri="{FF2B5EF4-FFF2-40B4-BE49-F238E27FC236}">
                <a16:creationId xmlns:a16="http://schemas.microsoft.com/office/drawing/2014/main" id="{C7240CDE-D008-FDF4-19A1-5392E394EF9F}"/>
              </a:ext>
            </a:extLst>
          </p:cNvPr>
          <p:cNvSpPr txBox="1"/>
          <p:nvPr/>
        </p:nvSpPr>
        <p:spPr>
          <a:xfrm>
            <a:off x="8519416" y="5981016"/>
            <a:ext cx="3413588" cy="523220"/>
          </a:xfrm>
          <a:prstGeom prst="rect">
            <a:avLst/>
          </a:prstGeom>
          <a:noFill/>
        </p:spPr>
        <p:txBody>
          <a:bodyPr wrap="square">
            <a:spAutoFit/>
          </a:bodyPr>
          <a:lstStyle/>
          <a:p>
            <a:pPr algn="ctr"/>
            <a:r>
              <a:rPr lang="en-IN" sz="1400" dirty="0"/>
              <a:t>Netaji Subhas Engineering College </a:t>
            </a:r>
          </a:p>
          <a:p>
            <a:pPr algn="ctr"/>
            <a:r>
              <a:rPr lang="en-IN" sz="1400" dirty="0" err="1"/>
              <a:t>Garia</a:t>
            </a:r>
            <a:r>
              <a:rPr lang="en-IN" sz="1400" dirty="0"/>
              <a:t>, Kolkata – 700152 </a:t>
            </a:r>
          </a:p>
        </p:txBody>
      </p:sp>
    </p:spTree>
    <p:extLst>
      <p:ext uri="{BB962C8B-B14F-4D97-AF65-F5344CB8AC3E}">
        <p14:creationId xmlns:p14="http://schemas.microsoft.com/office/powerpoint/2010/main" val="1191035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8A0E1E-C366-3B6E-8C01-452D51B7B0C7}"/>
              </a:ext>
            </a:extLst>
          </p:cNvPr>
          <p:cNvSpPr/>
          <p:nvPr/>
        </p:nvSpPr>
        <p:spPr>
          <a:xfrm>
            <a:off x="702486" y="850858"/>
            <a:ext cx="2351926"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Outline:</a:t>
            </a:r>
          </a:p>
        </p:txBody>
      </p:sp>
      <p:sp>
        <p:nvSpPr>
          <p:cNvPr id="5" name="Rectangle: Rounded Corners 4">
            <a:extLst>
              <a:ext uri="{FF2B5EF4-FFF2-40B4-BE49-F238E27FC236}">
                <a16:creationId xmlns:a16="http://schemas.microsoft.com/office/drawing/2014/main" id="{6B356FEE-974C-9360-31CB-9BB041A50111}"/>
              </a:ext>
            </a:extLst>
          </p:cNvPr>
          <p:cNvSpPr/>
          <p:nvPr/>
        </p:nvSpPr>
        <p:spPr>
          <a:xfrm>
            <a:off x="1352027" y="2571958"/>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ysClr val="windowText" lastClr="000000"/>
                </a:solidFill>
              </a:rPr>
              <a:t>1. Problem Statement</a:t>
            </a:r>
            <a:endParaRPr lang="en-IN" sz="1800" dirty="0">
              <a:solidFill>
                <a:sysClr val="windowText" lastClr="000000"/>
              </a:solidFill>
            </a:endParaRPr>
          </a:p>
        </p:txBody>
      </p:sp>
      <p:sp>
        <p:nvSpPr>
          <p:cNvPr id="6" name="Rectangle: Rounded Corners 5">
            <a:extLst>
              <a:ext uri="{FF2B5EF4-FFF2-40B4-BE49-F238E27FC236}">
                <a16:creationId xmlns:a16="http://schemas.microsoft.com/office/drawing/2014/main" id="{11F3D207-42B3-A21C-3892-6C43B36CC4E1}"/>
              </a:ext>
            </a:extLst>
          </p:cNvPr>
          <p:cNvSpPr/>
          <p:nvPr/>
        </p:nvSpPr>
        <p:spPr>
          <a:xfrm>
            <a:off x="4896980" y="2500039"/>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ysClr val="windowText" lastClr="000000"/>
                </a:solidFill>
              </a:rPr>
              <a:t>2. Proposed Solution</a:t>
            </a:r>
            <a:endParaRPr lang="en-IN" sz="1800" dirty="0">
              <a:solidFill>
                <a:sysClr val="windowText" lastClr="000000"/>
              </a:solidFill>
            </a:endParaRPr>
          </a:p>
        </p:txBody>
      </p:sp>
      <p:sp>
        <p:nvSpPr>
          <p:cNvPr id="7" name="Rectangle: Rounded Corners 6">
            <a:extLst>
              <a:ext uri="{FF2B5EF4-FFF2-40B4-BE49-F238E27FC236}">
                <a16:creationId xmlns:a16="http://schemas.microsoft.com/office/drawing/2014/main" id="{3A1ED385-6D24-D588-A956-32FD431A01EF}"/>
              </a:ext>
            </a:extLst>
          </p:cNvPr>
          <p:cNvSpPr/>
          <p:nvPr/>
        </p:nvSpPr>
        <p:spPr>
          <a:xfrm>
            <a:off x="8441933" y="2500039"/>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ysClr val="windowText" lastClr="000000"/>
                </a:solidFill>
              </a:rPr>
              <a:t>3. Project Implementation</a:t>
            </a:r>
            <a:endParaRPr lang="en-IN" sz="1800" dirty="0">
              <a:solidFill>
                <a:sysClr val="windowText" lastClr="000000"/>
              </a:solidFill>
            </a:endParaRPr>
          </a:p>
        </p:txBody>
      </p:sp>
      <p:sp>
        <p:nvSpPr>
          <p:cNvPr id="8" name="Rectangle: Rounded Corners 7">
            <a:extLst>
              <a:ext uri="{FF2B5EF4-FFF2-40B4-BE49-F238E27FC236}">
                <a16:creationId xmlns:a16="http://schemas.microsoft.com/office/drawing/2014/main" id="{86E57634-F081-837B-3EAC-1678905B89A6}"/>
              </a:ext>
            </a:extLst>
          </p:cNvPr>
          <p:cNvSpPr/>
          <p:nvPr/>
        </p:nvSpPr>
        <p:spPr>
          <a:xfrm>
            <a:off x="4896980" y="4577988"/>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ysClr val="windowText" lastClr="000000"/>
                </a:solidFill>
              </a:rPr>
              <a:t>5. Future Scope</a:t>
            </a:r>
          </a:p>
        </p:txBody>
      </p:sp>
      <p:sp>
        <p:nvSpPr>
          <p:cNvPr id="9" name="Rectangle: Rounded Corners 8">
            <a:extLst>
              <a:ext uri="{FF2B5EF4-FFF2-40B4-BE49-F238E27FC236}">
                <a16:creationId xmlns:a16="http://schemas.microsoft.com/office/drawing/2014/main" id="{FEF3790B-815C-14D6-D012-8E639BC0367B}"/>
              </a:ext>
            </a:extLst>
          </p:cNvPr>
          <p:cNvSpPr/>
          <p:nvPr/>
        </p:nvSpPr>
        <p:spPr>
          <a:xfrm>
            <a:off x="1352027" y="4577989"/>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solidFill>
                  <a:sysClr val="windowText" lastClr="000000"/>
                </a:solidFill>
              </a:rPr>
              <a:t>4. System Design</a:t>
            </a:r>
            <a:endParaRPr lang="en-IN" sz="1800" dirty="0">
              <a:solidFill>
                <a:sysClr val="windowText" lastClr="000000"/>
              </a:solidFill>
            </a:endParaRPr>
          </a:p>
        </p:txBody>
      </p:sp>
      <p:sp>
        <p:nvSpPr>
          <p:cNvPr id="10" name="Rectangle: Rounded Corners 9">
            <a:extLst>
              <a:ext uri="{FF2B5EF4-FFF2-40B4-BE49-F238E27FC236}">
                <a16:creationId xmlns:a16="http://schemas.microsoft.com/office/drawing/2014/main" id="{A5E14C4B-89FA-5822-224C-4759CBB050EB}"/>
              </a:ext>
            </a:extLst>
          </p:cNvPr>
          <p:cNvSpPr/>
          <p:nvPr/>
        </p:nvSpPr>
        <p:spPr>
          <a:xfrm>
            <a:off x="8441933" y="4577990"/>
            <a:ext cx="2278012" cy="1746607"/>
          </a:xfrm>
          <a:prstGeom prst="roundRect">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ysClr val="windowText" lastClr="000000"/>
                </a:solidFill>
              </a:rPr>
              <a:t>6. Conclusion</a:t>
            </a:r>
            <a:endParaRPr lang="en-IN" sz="1800" dirty="0">
              <a:solidFill>
                <a:sysClr val="windowText" lastClr="000000"/>
              </a:solidFill>
            </a:endParaRPr>
          </a:p>
        </p:txBody>
      </p:sp>
    </p:spTree>
    <p:extLst>
      <p:ext uri="{BB962C8B-B14F-4D97-AF65-F5344CB8AC3E}">
        <p14:creationId xmlns:p14="http://schemas.microsoft.com/office/powerpoint/2010/main" val="591764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42D1B-D537-AC85-7592-2E1E7EE3FD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A14F89-41E5-8972-07C1-08D9EF084994}"/>
              </a:ext>
            </a:extLst>
          </p:cNvPr>
          <p:cNvSpPr/>
          <p:nvPr/>
        </p:nvSpPr>
        <p:spPr>
          <a:xfrm>
            <a:off x="702486" y="850858"/>
            <a:ext cx="585128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Problem Statement:</a:t>
            </a:r>
          </a:p>
        </p:txBody>
      </p:sp>
      <p:sp>
        <p:nvSpPr>
          <p:cNvPr id="3" name="TextBox 2">
            <a:extLst>
              <a:ext uri="{FF2B5EF4-FFF2-40B4-BE49-F238E27FC236}">
                <a16:creationId xmlns:a16="http://schemas.microsoft.com/office/drawing/2014/main" id="{B2232BEA-0D2D-BC1D-4EB0-5F8A4FE81A06}"/>
              </a:ext>
            </a:extLst>
          </p:cNvPr>
          <p:cNvSpPr txBox="1"/>
          <p:nvPr/>
        </p:nvSpPr>
        <p:spPr>
          <a:xfrm>
            <a:off x="1818735" y="2631859"/>
            <a:ext cx="8554530" cy="3375283"/>
          </a:xfrm>
          <a:prstGeom prst="rect">
            <a:avLst/>
          </a:prstGeom>
          <a:noFill/>
        </p:spPr>
        <p:txBody>
          <a:bodyPr wrap="square" rtlCol="0">
            <a:spAutoFit/>
          </a:bodyPr>
          <a:lstStyle/>
          <a:p>
            <a:pPr rtl="0">
              <a:spcAft>
                <a:spcPts val="1000"/>
              </a:spcAft>
            </a:pPr>
            <a:r>
              <a:rPr lang="en-US" sz="2000" dirty="0"/>
              <a:t>Organizing photos from multiple contributors after events like weddings or conferences is often tedious and inefficient. </a:t>
            </a:r>
          </a:p>
          <a:p>
            <a:pPr rtl="0">
              <a:spcAft>
                <a:spcPts val="1000"/>
              </a:spcAft>
            </a:pPr>
            <a:endParaRPr lang="en-US" sz="2000" dirty="0"/>
          </a:p>
          <a:p>
            <a:pPr rtl="0">
              <a:spcAft>
                <a:spcPts val="1000"/>
              </a:spcAft>
            </a:pPr>
            <a:r>
              <a:rPr lang="en-US" sz="2000" dirty="0"/>
              <a:t>Shared folders amass hundreds of images, leaving users to manually sort through them, identify individuals, and group photos—a process complicated by group shots and low-quality images. </a:t>
            </a:r>
          </a:p>
          <a:p>
            <a:pPr rtl="0">
              <a:spcAft>
                <a:spcPts val="1000"/>
              </a:spcAft>
            </a:pPr>
            <a:endParaRPr lang="en-US" sz="2000" dirty="0"/>
          </a:p>
          <a:p>
            <a:pPr rtl="0">
              <a:spcAft>
                <a:spcPts val="1000"/>
              </a:spcAft>
            </a:pPr>
            <a:r>
              <a:rPr lang="en-US" sz="2000" dirty="0"/>
              <a:t>Existing tools are user-specific and struggle with large-scale event photo management.</a:t>
            </a:r>
          </a:p>
        </p:txBody>
      </p:sp>
      <p:grpSp>
        <p:nvGrpSpPr>
          <p:cNvPr id="7" name="Group 6">
            <a:extLst>
              <a:ext uri="{FF2B5EF4-FFF2-40B4-BE49-F238E27FC236}">
                <a16:creationId xmlns:a16="http://schemas.microsoft.com/office/drawing/2014/main" id="{ED1A5483-76E5-295A-3232-F16837CA7002}"/>
              </a:ext>
            </a:extLst>
          </p:cNvPr>
          <p:cNvGrpSpPr/>
          <p:nvPr/>
        </p:nvGrpSpPr>
        <p:grpSpPr>
          <a:xfrm>
            <a:off x="702486" y="2600589"/>
            <a:ext cx="729466" cy="3293537"/>
            <a:chOff x="10998486" y="2606061"/>
            <a:chExt cx="729466" cy="3293537"/>
          </a:xfrm>
        </p:grpSpPr>
        <p:sp>
          <p:nvSpPr>
            <p:cNvPr id="4" name="Oval 3">
              <a:extLst>
                <a:ext uri="{FF2B5EF4-FFF2-40B4-BE49-F238E27FC236}">
                  <a16:creationId xmlns:a16="http://schemas.microsoft.com/office/drawing/2014/main" id="{22BEFAE3-8EB9-717F-3CB7-9AACF17A40A3}"/>
                </a:ext>
              </a:extLst>
            </p:cNvPr>
            <p:cNvSpPr/>
            <p:nvPr/>
          </p:nvSpPr>
          <p:spPr>
            <a:xfrm>
              <a:off x="10998486" y="2606061"/>
              <a:ext cx="729466" cy="739739"/>
            </a:xfrm>
            <a:prstGeom prst="ellipse">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1</a:t>
              </a:r>
            </a:p>
          </p:txBody>
        </p:sp>
        <p:sp>
          <p:nvSpPr>
            <p:cNvPr id="5" name="Oval 4">
              <a:extLst>
                <a:ext uri="{FF2B5EF4-FFF2-40B4-BE49-F238E27FC236}">
                  <a16:creationId xmlns:a16="http://schemas.microsoft.com/office/drawing/2014/main" id="{94D1BBC4-7408-1F9F-177D-11CEBF8008E0}"/>
                </a:ext>
              </a:extLst>
            </p:cNvPr>
            <p:cNvSpPr/>
            <p:nvPr/>
          </p:nvSpPr>
          <p:spPr>
            <a:xfrm>
              <a:off x="10998486" y="3882960"/>
              <a:ext cx="729466" cy="739739"/>
            </a:xfrm>
            <a:prstGeom prst="ellipse">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2</a:t>
              </a:r>
            </a:p>
          </p:txBody>
        </p:sp>
        <p:sp>
          <p:nvSpPr>
            <p:cNvPr id="6" name="Oval 5">
              <a:extLst>
                <a:ext uri="{FF2B5EF4-FFF2-40B4-BE49-F238E27FC236}">
                  <a16:creationId xmlns:a16="http://schemas.microsoft.com/office/drawing/2014/main" id="{C426DF11-7F66-7D17-810D-E1F32CF25F00}"/>
                </a:ext>
              </a:extLst>
            </p:cNvPr>
            <p:cNvSpPr/>
            <p:nvPr/>
          </p:nvSpPr>
          <p:spPr>
            <a:xfrm>
              <a:off x="10998486" y="5159859"/>
              <a:ext cx="729466" cy="739739"/>
            </a:xfrm>
            <a:prstGeom prst="ellipse">
              <a:avLst/>
            </a:prstGeom>
            <a:solidFill>
              <a:schemeClr val="tx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0"/>
                  <a:solidFill>
                    <a:schemeClr val="tx1"/>
                  </a:solidFill>
                  <a:effectLst>
                    <a:outerShdw blurRad="38100" dist="19050" dir="2700000" algn="tl" rotWithShape="0">
                      <a:schemeClr val="dk1">
                        <a:alpha val="40000"/>
                      </a:schemeClr>
                    </a:outerShdw>
                  </a:effectLst>
                </a:rPr>
                <a:t>3</a:t>
              </a:r>
            </a:p>
          </p:txBody>
        </p:sp>
      </p:grpSp>
      <p:sp>
        <p:nvSpPr>
          <p:cNvPr id="8" name="Rectangle 7">
            <a:extLst>
              <a:ext uri="{FF2B5EF4-FFF2-40B4-BE49-F238E27FC236}">
                <a16:creationId xmlns:a16="http://schemas.microsoft.com/office/drawing/2014/main" id="{04F1264D-3C3D-D944-ADCB-897A4C9AF530}"/>
              </a:ext>
            </a:extLst>
          </p:cNvPr>
          <p:cNvSpPr/>
          <p:nvPr/>
        </p:nvSpPr>
        <p:spPr>
          <a:xfrm>
            <a:off x="10584688" y="346545"/>
            <a:ext cx="381836"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a:t>
            </a:r>
          </a:p>
        </p:txBody>
      </p:sp>
    </p:spTree>
    <p:extLst>
      <p:ext uri="{BB962C8B-B14F-4D97-AF65-F5344CB8AC3E}">
        <p14:creationId xmlns:p14="http://schemas.microsoft.com/office/powerpoint/2010/main" val="233557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D8A2-CF60-1D28-FA93-8D33457E4E4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AD9FE64-F7B6-ADFF-5277-84530AB34F7C}"/>
              </a:ext>
            </a:extLst>
          </p:cNvPr>
          <p:cNvSpPr/>
          <p:nvPr/>
        </p:nvSpPr>
        <p:spPr>
          <a:xfrm>
            <a:off x="702486" y="850858"/>
            <a:ext cx="5460149"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Proposed Solution:</a:t>
            </a:r>
          </a:p>
        </p:txBody>
      </p:sp>
      <p:sp>
        <p:nvSpPr>
          <p:cNvPr id="5" name="TextBox 4">
            <a:extLst>
              <a:ext uri="{FF2B5EF4-FFF2-40B4-BE49-F238E27FC236}">
                <a16:creationId xmlns:a16="http://schemas.microsoft.com/office/drawing/2014/main" id="{77966A60-9E91-FF7F-97F8-E39DC0A35C3B}"/>
              </a:ext>
            </a:extLst>
          </p:cNvPr>
          <p:cNvSpPr txBox="1"/>
          <p:nvPr/>
        </p:nvSpPr>
        <p:spPr>
          <a:xfrm>
            <a:off x="702486" y="2415488"/>
            <a:ext cx="11174081" cy="1200329"/>
          </a:xfrm>
          <a:prstGeom prst="rect">
            <a:avLst/>
          </a:prstGeom>
          <a:noFill/>
        </p:spPr>
        <p:txBody>
          <a:bodyPr wrap="square">
            <a:spAutoFit/>
          </a:bodyPr>
          <a:lstStyle/>
          <a:p>
            <a:r>
              <a:rPr lang="en-US" sz="1800" dirty="0"/>
              <a:t>The project, </a:t>
            </a:r>
            <a:r>
              <a:rPr lang="en-US" sz="1800" dirty="0" err="1"/>
              <a:t>Albumify</a:t>
            </a:r>
            <a:r>
              <a:rPr lang="en-US" sz="1800" dirty="0"/>
              <a:t>, aims to build an easy-to-use web application that helps people quickly organize and manage photos from events or shared galleries. Using advanced technologies like deep learning and artificial intelligence, the platform will recognize faces in photos and group them based on user preferences.</a:t>
            </a:r>
          </a:p>
        </p:txBody>
      </p:sp>
      <p:sp>
        <p:nvSpPr>
          <p:cNvPr id="9" name="TextBox 8">
            <a:extLst>
              <a:ext uri="{FF2B5EF4-FFF2-40B4-BE49-F238E27FC236}">
                <a16:creationId xmlns:a16="http://schemas.microsoft.com/office/drawing/2014/main" id="{B65438A7-3F1E-8EB7-3EBF-306F59FC2EBD}"/>
              </a:ext>
            </a:extLst>
          </p:cNvPr>
          <p:cNvSpPr txBox="1"/>
          <p:nvPr/>
        </p:nvSpPr>
        <p:spPr>
          <a:xfrm>
            <a:off x="702486" y="3834384"/>
            <a:ext cx="6097772" cy="2308324"/>
          </a:xfrm>
          <a:prstGeom prst="rect">
            <a:avLst/>
          </a:prstGeom>
          <a:noFill/>
        </p:spPr>
        <p:txBody>
          <a:bodyPr wrap="square">
            <a:spAutoFit/>
          </a:bodyPr>
          <a:lstStyle/>
          <a:p>
            <a:r>
              <a:rPr lang="en-IN" b="1" dirty="0"/>
              <a:t>Core Features:</a:t>
            </a:r>
          </a:p>
          <a:p>
            <a:pPr marL="285750" indent="-285750">
              <a:buFont typeface="Arial" panose="020B0604020202020204" pitchFamily="34" charset="0"/>
              <a:buChar char="•"/>
            </a:pPr>
            <a:r>
              <a:rPr lang="en-US" dirty="0"/>
              <a:t>Upload photos easily using drag-and-drop or directly from devices or cloud storage. </a:t>
            </a:r>
          </a:p>
          <a:p>
            <a:pPr marL="285750" indent="-285750">
              <a:buFont typeface="Arial" panose="020B0604020202020204" pitchFamily="34" charset="0"/>
              <a:buChar char="•"/>
            </a:pPr>
            <a:r>
              <a:rPr lang="en-US" dirty="0"/>
              <a:t>Automatically process photos to detect, align, and group faces.</a:t>
            </a:r>
          </a:p>
          <a:p>
            <a:pPr marL="285750" indent="-285750">
              <a:buFont typeface="Arial" panose="020B0604020202020204" pitchFamily="34" charset="0"/>
              <a:buChar char="•"/>
            </a:pPr>
            <a:r>
              <a:rPr lang="en-US" dirty="0"/>
              <a:t>Display categorized photos in a clear, organized grid. Let users download grouped photo collections effortlessly. </a:t>
            </a:r>
          </a:p>
        </p:txBody>
      </p:sp>
      <p:pic>
        <p:nvPicPr>
          <p:cNvPr id="1026" name="Picture 2" descr="Online/Cloud-based Application Software Packages, Online, Free Demo/Trial  Available in Ludhiana">
            <a:extLst>
              <a:ext uri="{FF2B5EF4-FFF2-40B4-BE49-F238E27FC236}">
                <a16:creationId xmlns:a16="http://schemas.microsoft.com/office/drawing/2014/main" id="{1AAA10F8-F6FA-021E-F5BE-BF2B08A4402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50600" y1="74400" x2="53000" y2="76200"/>
                        <a14:foregroundMark x1="33200" y1="68800" x2="29600" y2="71000"/>
                        <a14:foregroundMark x1="62400" y1="62400" x2="66000" y2="62600"/>
                        <a14:foregroundMark x1="54200" y1="21600" x2="62400" y2="25600"/>
                      </a14:backgroundRemoval>
                    </a14:imgEffect>
                  </a14:imgLayer>
                </a14:imgProps>
              </a:ext>
              <a:ext uri="{28A0092B-C50C-407E-A947-70E740481C1C}">
                <a14:useLocalDpi xmlns:a14="http://schemas.microsoft.com/office/drawing/2010/main" val="0"/>
              </a:ext>
            </a:extLst>
          </a:blip>
          <a:srcRect b="11606"/>
          <a:stretch/>
        </p:blipFill>
        <p:spPr bwMode="auto">
          <a:xfrm>
            <a:off x="6800258" y="3015652"/>
            <a:ext cx="4189951" cy="370364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8AA026F7-8BBD-8F4B-24A6-383514055CFC}"/>
              </a:ext>
            </a:extLst>
          </p:cNvPr>
          <p:cNvSpPr/>
          <p:nvPr/>
        </p:nvSpPr>
        <p:spPr>
          <a:xfrm>
            <a:off x="10521229" y="367093"/>
            <a:ext cx="510076" cy="769441"/>
          </a:xfrm>
          <a:prstGeom prst="rect">
            <a:avLst/>
          </a:prstGeom>
          <a:noFill/>
        </p:spPr>
        <p:txBody>
          <a:bodyPr wrap="none" lIns="91440" tIns="45720" rIns="91440" bIns="45720">
            <a:spAutoFit/>
          </a:bodyPr>
          <a:lstStyle/>
          <a:p>
            <a:pPr algn="ctr"/>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2</a:t>
            </a:r>
          </a:p>
        </p:txBody>
      </p:sp>
    </p:spTree>
    <p:extLst>
      <p:ext uri="{BB962C8B-B14F-4D97-AF65-F5344CB8AC3E}">
        <p14:creationId xmlns:p14="http://schemas.microsoft.com/office/powerpoint/2010/main" val="1897744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79E5-01E3-2D6F-1EFB-155A787B32D2}"/>
            </a:ext>
          </a:extLst>
        </p:cNvPr>
        <p:cNvGrpSpPr/>
        <p:nvPr/>
      </p:nvGrpSpPr>
      <p:grpSpPr>
        <a:xfrm>
          <a:off x="0" y="0"/>
          <a:ext cx="0" cy="0"/>
          <a:chOff x="0" y="0"/>
          <a:chExt cx="0" cy="0"/>
        </a:xfrm>
      </p:grpSpPr>
      <p:pic>
        <p:nvPicPr>
          <p:cNvPr id="1029" name="Picture 5" descr="Component Detail">
            <a:extLst>
              <a:ext uri="{FF2B5EF4-FFF2-40B4-BE49-F238E27FC236}">
                <a16:creationId xmlns:a16="http://schemas.microsoft.com/office/drawing/2014/main" id="{8C8117EA-A81B-5EFC-3764-D275165123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627"/>
          <a:stretch/>
        </p:blipFill>
        <p:spPr bwMode="auto">
          <a:xfrm>
            <a:off x="8299666" y="2619364"/>
            <a:ext cx="2657701" cy="162198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D7857F9-489A-40F0-9604-F95910599FA3}"/>
              </a:ext>
            </a:extLst>
          </p:cNvPr>
          <p:cNvSpPr/>
          <p:nvPr/>
        </p:nvSpPr>
        <p:spPr>
          <a:xfrm>
            <a:off x="702486" y="850858"/>
            <a:ext cx="379623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Introduction:</a:t>
            </a:r>
          </a:p>
        </p:txBody>
      </p:sp>
      <p:pic>
        <p:nvPicPr>
          <p:cNvPr id="1026" name="Picture 2" descr="Open Chromebook laptop computer">
            <a:extLst>
              <a:ext uri="{FF2B5EF4-FFF2-40B4-BE49-F238E27FC236}">
                <a16:creationId xmlns:a16="http://schemas.microsoft.com/office/drawing/2014/main" id="{6DC3B776-03F3-710F-9BAE-CE3F4889C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929189" y="2496555"/>
            <a:ext cx="3551449" cy="21059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obile View">
            <a:extLst>
              <a:ext uri="{FF2B5EF4-FFF2-40B4-BE49-F238E27FC236}">
                <a16:creationId xmlns:a16="http://schemas.microsoft.com/office/drawing/2014/main" id="{5EB7677C-16CA-25B0-1741-FFA3C3450E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1111" y="3328598"/>
            <a:ext cx="1399527" cy="270964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ortrait-oriented black smaptphone">
            <a:extLst>
              <a:ext uri="{FF2B5EF4-FFF2-40B4-BE49-F238E27FC236}">
                <a16:creationId xmlns:a16="http://schemas.microsoft.com/office/drawing/2014/main" id="{0F987EE5-E3D3-0F20-C08A-DBBB6247BC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023910" y="3093963"/>
            <a:ext cx="1541195" cy="30268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2A6655-686C-1232-9CD0-E6202F1D30DA}"/>
              </a:ext>
            </a:extLst>
          </p:cNvPr>
          <p:cNvSpPr txBox="1"/>
          <p:nvPr/>
        </p:nvSpPr>
        <p:spPr>
          <a:xfrm>
            <a:off x="626895" y="2733937"/>
            <a:ext cx="6978474" cy="1631216"/>
          </a:xfrm>
          <a:prstGeom prst="rect">
            <a:avLst/>
          </a:prstGeom>
          <a:noFill/>
        </p:spPr>
        <p:txBody>
          <a:bodyPr wrap="square" rtlCol="0">
            <a:spAutoFit/>
          </a:bodyPr>
          <a:lstStyle/>
          <a:p>
            <a:pPr marL="285750" indent="-285750" rtl="0">
              <a:buFont typeface="Arial" panose="020B0604020202020204" pitchFamily="34" charset="0"/>
              <a:buChar char="•"/>
            </a:pPr>
            <a:r>
              <a:rPr lang="en-US" sz="2000" dirty="0"/>
              <a:t>“</a:t>
            </a:r>
            <a:r>
              <a:rPr lang="en-US" sz="2000" dirty="0" err="1"/>
              <a:t>Albumify</a:t>
            </a:r>
            <a:r>
              <a:rPr lang="en-US" sz="2000" dirty="0"/>
              <a:t>” operates at the intersection of computer vision, deep learning. The platform addresses the need for efficient organization by enabling users to upload their event or gallery photos into a shared pool.</a:t>
            </a:r>
          </a:p>
        </p:txBody>
      </p:sp>
      <p:sp>
        <p:nvSpPr>
          <p:cNvPr id="5" name="TextBox 4">
            <a:extLst>
              <a:ext uri="{FF2B5EF4-FFF2-40B4-BE49-F238E27FC236}">
                <a16:creationId xmlns:a16="http://schemas.microsoft.com/office/drawing/2014/main" id="{B9843E7A-C7AE-D83B-103B-2117C4C70755}"/>
              </a:ext>
            </a:extLst>
          </p:cNvPr>
          <p:cNvSpPr txBox="1"/>
          <p:nvPr/>
        </p:nvSpPr>
        <p:spPr>
          <a:xfrm>
            <a:off x="626895" y="4786635"/>
            <a:ext cx="8882865" cy="1323439"/>
          </a:xfrm>
          <a:prstGeom prst="rect">
            <a:avLst/>
          </a:prstGeom>
          <a:noFill/>
        </p:spPr>
        <p:txBody>
          <a:bodyPr wrap="square">
            <a:spAutoFit/>
          </a:bodyPr>
          <a:lstStyle/>
          <a:p>
            <a:pPr marL="285750" indent="-285750">
              <a:buFont typeface="Arial" panose="020B0604020202020204" pitchFamily="34" charset="0"/>
              <a:buChar char="•"/>
            </a:pPr>
            <a:r>
              <a:rPr lang="en-US" sz="2000" dirty="0"/>
              <a:t>By focusing on collaborative photo sharing and intelligent sorting, </a:t>
            </a:r>
            <a:r>
              <a:rPr lang="en-US" sz="2000" dirty="0" err="1"/>
              <a:t>Albumify</a:t>
            </a:r>
            <a:r>
              <a:rPr lang="en-US" sz="2000" dirty="0"/>
              <a:t> aims to simplify the post-event photo management process while providing users with a seamless and intuitive experience.</a:t>
            </a:r>
            <a:endParaRPr lang="en-IN" sz="2000" dirty="0"/>
          </a:p>
        </p:txBody>
      </p:sp>
      <p:sp>
        <p:nvSpPr>
          <p:cNvPr id="4" name="Rectangle 3">
            <a:extLst>
              <a:ext uri="{FF2B5EF4-FFF2-40B4-BE49-F238E27FC236}">
                <a16:creationId xmlns:a16="http://schemas.microsoft.com/office/drawing/2014/main" id="{D6E2B73E-F544-E583-EA10-D79BA32670C8}"/>
              </a:ext>
            </a:extLst>
          </p:cNvPr>
          <p:cNvSpPr/>
          <p:nvPr/>
        </p:nvSpPr>
        <p:spPr>
          <a:xfrm>
            <a:off x="10523044" y="346545"/>
            <a:ext cx="519694"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3</a:t>
            </a:r>
          </a:p>
        </p:txBody>
      </p:sp>
    </p:spTree>
    <p:extLst>
      <p:ext uri="{BB962C8B-B14F-4D97-AF65-F5344CB8AC3E}">
        <p14:creationId xmlns:p14="http://schemas.microsoft.com/office/powerpoint/2010/main" val="112593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898B-9B07-1D9D-219A-CB14EB85C1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C15CE2-CFFC-7C2E-5AEA-E81F4B61444F}"/>
              </a:ext>
            </a:extLst>
          </p:cNvPr>
          <p:cNvSpPr/>
          <p:nvPr/>
        </p:nvSpPr>
        <p:spPr>
          <a:xfrm>
            <a:off x="702486" y="850858"/>
            <a:ext cx="6112571"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Tech Stack Frontend:</a:t>
            </a:r>
          </a:p>
        </p:txBody>
      </p:sp>
      <p:sp>
        <p:nvSpPr>
          <p:cNvPr id="4" name="TextBox 3">
            <a:extLst>
              <a:ext uri="{FF2B5EF4-FFF2-40B4-BE49-F238E27FC236}">
                <a16:creationId xmlns:a16="http://schemas.microsoft.com/office/drawing/2014/main" id="{4D3FB9D5-5063-3085-BA01-422D9CD50044}"/>
              </a:ext>
            </a:extLst>
          </p:cNvPr>
          <p:cNvSpPr txBox="1"/>
          <p:nvPr/>
        </p:nvSpPr>
        <p:spPr>
          <a:xfrm>
            <a:off x="3238190" y="2370708"/>
            <a:ext cx="8825013" cy="4295343"/>
          </a:xfrm>
          <a:prstGeom prst="rect">
            <a:avLst/>
          </a:prstGeom>
          <a:noFill/>
        </p:spPr>
        <p:txBody>
          <a:bodyPr wrap="square">
            <a:spAutoFit/>
          </a:bodyPr>
          <a:lstStyle/>
          <a:p>
            <a:pPr marL="568162" lvl="1" indent="-284081" algn="l">
              <a:lnSpc>
                <a:spcPts val="3684"/>
              </a:lnSpc>
              <a:buFont typeface="Arial"/>
              <a:buChar char="•"/>
            </a:pPr>
            <a:r>
              <a:rPr lang="en-US" b="1" dirty="0">
                <a:sym typeface="Canva Sans Bold"/>
              </a:rPr>
              <a:t>Vite </a:t>
            </a:r>
            <a:r>
              <a:rPr lang="en-US" b="1" dirty="0">
                <a:sym typeface="Canva Sans"/>
              </a:rPr>
              <a:t>-</a:t>
            </a:r>
            <a:r>
              <a:rPr lang="en-US" dirty="0">
                <a:sym typeface="Canva Sans"/>
              </a:rPr>
              <a:t> Vite is an ultra-fast build tool that improves the development experience by reducing the time it takes to see changes during development. </a:t>
            </a:r>
          </a:p>
          <a:p>
            <a:pPr marL="568162" lvl="1" indent="-284081" algn="l">
              <a:lnSpc>
                <a:spcPts val="3684"/>
              </a:lnSpc>
              <a:buFont typeface="Arial"/>
              <a:buChar char="•"/>
            </a:pPr>
            <a:r>
              <a:rPr lang="en-US" b="1" dirty="0">
                <a:sym typeface="Canva Sans Bold"/>
              </a:rPr>
              <a:t>ReactJS </a:t>
            </a:r>
            <a:r>
              <a:rPr lang="en-US" b="1" dirty="0">
                <a:sym typeface="Canva Sans"/>
              </a:rPr>
              <a:t>-</a:t>
            </a:r>
            <a:r>
              <a:rPr lang="en-US" dirty="0">
                <a:sym typeface="Canva Sans"/>
              </a:rPr>
              <a:t> React allows us to create dynamic and interactive user interfaces using components.</a:t>
            </a:r>
          </a:p>
          <a:p>
            <a:pPr marL="568162" lvl="1" indent="-284081" algn="l">
              <a:lnSpc>
                <a:spcPts val="3684"/>
              </a:lnSpc>
              <a:buFont typeface="Arial"/>
              <a:buChar char="•"/>
            </a:pPr>
            <a:r>
              <a:rPr lang="en-US" b="1" dirty="0" err="1">
                <a:sym typeface="Canva Sans Bold"/>
              </a:rPr>
              <a:t>Zustand</a:t>
            </a:r>
            <a:r>
              <a:rPr lang="en-US" b="1" dirty="0">
                <a:sym typeface="Canva Sans Bold"/>
              </a:rPr>
              <a:t> </a:t>
            </a:r>
            <a:r>
              <a:rPr lang="en-US" b="1" dirty="0">
                <a:sym typeface="Canva Sans"/>
              </a:rPr>
              <a:t>-</a:t>
            </a:r>
            <a:r>
              <a:rPr lang="en-US" dirty="0">
                <a:sym typeface="Canva Sans"/>
              </a:rPr>
              <a:t> State management libraries to handle global application state.</a:t>
            </a:r>
          </a:p>
          <a:p>
            <a:pPr marL="568162" lvl="1" indent="-284081" algn="l">
              <a:lnSpc>
                <a:spcPts val="3684"/>
              </a:lnSpc>
              <a:buFont typeface="Arial"/>
              <a:buChar char="•"/>
            </a:pPr>
            <a:r>
              <a:rPr lang="en-US" b="1" dirty="0">
                <a:sym typeface="Canva Sans Bold"/>
              </a:rPr>
              <a:t>Tailwind CSS </a:t>
            </a:r>
            <a:r>
              <a:rPr lang="en-US" b="1" dirty="0">
                <a:sym typeface="Canva Sans"/>
              </a:rPr>
              <a:t>-</a:t>
            </a:r>
            <a:r>
              <a:rPr lang="en-US" dirty="0">
                <a:sym typeface="Canva Sans"/>
              </a:rPr>
              <a:t>  Utility-first CSS framework for flexible and responsive styling. </a:t>
            </a:r>
          </a:p>
        </p:txBody>
      </p:sp>
      <p:sp>
        <p:nvSpPr>
          <p:cNvPr id="6" name="Freeform 3">
            <a:extLst>
              <a:ext uri="{FF2B5EF4-FFF2-40B4-BE49-F238E27FC236}">
                <a16:creationId xmlns:a16="http://schemas.microsoft.com/office/drawing/2014/main" id="{665B7715-7366-160B-A97C-638E370A89B9}"/>
              </a:ext>
            </a:extLst>
          </p:cNvPr>
          <p:cNvSpPr/>
          <p:nvPr/>
        </p:nvSpPr>
        <p:spPr>
          <a:xfrm>
            <a:off x="304272" y="4888677"/>
            <a:ext cx="3332132" cy="1825602"/>
          </a:xfrm>
          <a:custGeom>
            <a:avLst/>
            <a:gdLst/>
            <a:ahLst/>
            <a:cxnLst/>
            <a:rect l="l" t="t" r="r" b="b"/>
            <a:pathLst>
              <a:path w="4278376" h="2139188">
                <a:moveTo>
                  <a:pt x="0" y="0"/>
                </a:moveTo>
                <a:lnTo>
                  <a:pt x="4278376" y="0"/>
                </a:lnTo>
                <a:lnTo>
                  <a:pt x="4278376" y="2139188"/>
                </a:lnTo>
                <a:lnTo>
                  <a:pt x="0" y="2139188"/>
                </a:lnTo>
                <a:lnTo>
                  <a:pt x="0" y="0"/>
                </a:lnTo>
                <a:close/>
              </a:path>
            </a:pathLst>
          </a:custGeom>
          <a:blipFill>
            <a:blip r:embed="rId2"/>
            <a:stretch>
              <a:fillRect/>
            </a:stretch>
          </a:blipFill>
        </p:spPr>
        <p:txBody>
          <a:bodyPr/>
          <a:lstStyle/>
          <a:p>
            <a:endParaRPr lang="en-IN"/>
          </a:p>
        </p:txBody>
      </p:sp>
      <p:sp>
        <p:nvSpPr>
          <p:cNvPr id="8" name="Freeform 2">
            <a:extLst>
              <a:ext uri="{FF2B5EF4-FFF2-40B4-BE49-F238E27FC236}">
                <a16:creationId xmlns:a16="http://schemas.microsoft.com/office/drawing/2014/main" id="{0BDB16EC-1F06-498C-53F6-DB47D66FDEE7}"/>
              </a:ext>
            </a:extLst>
          </p:cNvPr>
          <p:cNvSpPr/>
          <p:nvPr/>
        </p:nvSpPr>
        <p:spPr>
          <a:xfrm>
            <a:off x="702486" y="2180060"/>
            <a:ext cx="2524805" cy="2497879"/>
          </a:xfrm>
          <a:custGeom>
            <a:avLst/>
            <a:gdLst/>
            <a:ahLst/>
            <a:cxnLst/>
            <a:rect l="l" t="t" r="r" b="b"/>
            <a:pathLst>
              <a:path w="3693864" h="3693864">
                <a:moveTo>
                  <a:pt x="0" y="0"/>
                </a:moveTo>
                <a:lnTo>
                  <a:pt x="3693864" y="0"/>
                </a:lnTo>
                <a:lnTo>
                  <a:pt x="3693864" y="3693865"/>
                </a:lnTo>
                <a:lnTo>
                  <a:pt x="0" y="3693865"/>
                </a:lnTo>
                <a:lnTo>
                  <a:pt x="0" y="0"/>
                </a:lnTo>
                <a:close/>
              </a:path>
            </a:pathLst>
          </a:custGeom>
          <a:blipFill>
            <a:blip r:embed="rId3"/>
            <a:stretch>
              <a:fillRect l="-43533" r="-43533"/>
            </a:stretch>
          </a:blipFill>
        </p:spPr>
        <p:txBody>
          <a:bodyPr/>
          <a:lstStyle/>
          <a:p>
            <a:endParaRPr lang="en-IN"/>
          </a:p>
        </p:txBody>
      </p:sp>
      <p:sp>
        <p:nvSpPr>
          <p:cNvPr id="9" name="Freeform 4">
            <a:extLst>
              <a:ext uri="{FF2B5EF4-FFF2-40B4-BE49-F238E27FC236}">
                <a16:creationId xmlns:a16="http://schemas.microsoft.com/office/drawing/2014/main" id="{26CDAE9E-3864-5C26-114C-E6CFD15367B4}"/>
              </a:ext>
            </a:extLst>
          </p:cNvPr>
          <p:cNvSpPr/>
          <p:nvPr/>
        </p:nvSpPr>
        <p:spPr>
          <a:xfrm>
            <a:off x="1441186" y="4387736"/>
            <a:ext cx="1058304" cy="1001882"/>
          </a:xfrm>
          <a:custGeom>
            <a:avLst/>
            <a:gdLst/>
            <a:ahLst/>
            <a:cxnLst/>
            <a:rect l="l" t="t" r="r" b="b"/>
            <a:pathLst>
              <a:path w="3693864" h="1939279">
                <a:moveTo>
                  <a:pt x="0" y="0"/>
                </a:moveTo>
                <a:lnTo>
                  <a:pt x="3693864" y="0"/>
                </a:lnTo>
                <a:lnTo>
                  <a:pt x="3693864" y="1939279"/>
                </a:lnTo>
                <a:lnTo>
                  <a:pt x="0" y="1939279"/>
                </a:lnTo>
                <a:lnTo>
                  <a:pt x="0" y="0"/>
                </a:lnTo>
                <a:close/>
              </a:path>
            </a:pathLst>
          </a:custGeom>
          <a:blipFill>
            <a:blip r:embed="rId4"/>
            <a:stretch>
              <a:fillRect l="-140637" t="-33013"/>
            </a:stretch>
          </a:blipFill>
        </p:spPr>
        <p:txBody>
          <a:bodyPr/>
          <a:lstStyle/>
          <a:p>
            <a:endParaRPr lang="en-IN"/>
          </a:p>
        </p:txBody>
      </p:sp>
      <p:sp>
        <p:nvSpPr>
          <p:cNvPr id="10" name="Rectangle 9">
            <a:extLst>
              <a:ext uri="{FF2B5EF4-FFF2-40B4-BE49-F238E27FC236}">
                <a16:creationId xmlns:a16="http://schemas.microsoft.com/office/drawing/2014/main" id="{698B587B-8BB8-1117-8796-852438DF54F7}"/>
              </a:ext>
            </a:extLst>
          </p:cNvPr>
          <p:cNvSpPr/>
          <p:nvPr/>
        </p:nvSpPr>
        <p:spPr>
          <a:xfrm>
            <a:off x="10502496" y="346545"/>
            <a:ext cx="550151"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4</a:t>
            </a:r>
          </a:p>
        </p:txBody>
      </p:sp>
    </p:spTree>
    <p:extLst>
      <p:ext uri="{BB962C8B-B14F-4D97-AF65-F5344CB8AC3E}">
        <p14:creationId xmlns:p14="http://schemas.microsoft.com/office/powerpoint/2010/main" val="3977170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B4367-8059-2960-5F99-5EC169E3DE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D52B58-2335-6842-C9BC-531EC0CEFB36}"/>
              </a:ext>
            </a:extLst>
          </p:cNvPr>
          <p:cNvSpPr/>
          <p:nvPr/>
        </p:nvSpPr>
        <p:spPr>
          <a:xfrm>
            <a:off x="702486" y="850858"/>
            <a:ext cx="605967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Tech Stack Backend:</a:t>
            </a:r>
          </a:p>
        </p:txBody>
      </p:sp>
      <p:sp>
        <p:nvSpPr>
          <p:cNvPr id="3" name="Freeform 3">
            <a:extLst>
              <a:ext uri="{FF2B5EF4-FFF2-40B4-BE49-F238E27FC236}">
                <a16:creationId xmlns:a16="http://schemas.microsoft.com/office/drawing/2014/main" id="{1EE87794-40EC-654A-65C4-313B72846ED4}"/>
              </a:ext>
            </a:extLst>
          </p:cNvPr>
          <p:cNvSpPr/>
          <p:nvPr/>
        </p:nvSpPr>
        <p:spPr>
          <a:xfrm>
            <a:off x="9957142" y="2566451"/>
            <a:ext cx="1802738" cy="1109891"/>
          </a:xfrm>
          <a:custGeom>
            <a:avLst/>
            <a:gdLst/>
            <a:ahLst/>
            <a:cxnLst/>
            <a:rect l="l" t="t" r="r" b="b"/>
            <a:pathLst>
              <a:path w="2492654" h="1526751">
                <a:moveTo>
                  <a:pt x="0" y="0"/>
                </a:moveTo>
                <a:lnTo>
                  <a:pt x="2492655" y="0"/>
                </a:lnTo>
                <a:lnTo>
                  <a:pt x="2492655" y="1526751"/>
                </a:lnTo>
                <a:lnTo>
                  <a:pt x="0" y="1526751"/>
                </a:lnTo>
                <a:lnTo>
                  <a:pt x="0" y="0"/>
                </a:lnTo>
                <a:close/>
              </a:path>
            </a:pathLst>
          </a:custGeom>
          <a:blipFill>
            <a:blip r:embed="rId2"/>
            <a:stretch>
              <a:fillRect/>
            </a:stretch>
          </a:blipFill>
        </p:spPr>
        <p:txBody>
          <a:bodyPr/>
          <a:lstStyle/>
          <a:p>
            <a:endParaRPr lang="en-IN"/>
          </a:p>
        </p:txBody>
      </p:sp>
      <p:sp>
        <p:nvSpPr>
          <p:cNvPr id="4" name="Freeform 4">
            <a:extLst>
              <a:ext uri="{FF2B5EF4-FFF2-40B4-BE49-F238E27FC236}">
                <a16:creationId xmlns:a16="http://schemas.microsoft.com/office/drawing/2014/main" id="{96CB8185-94AE-405C-736C-7ACB47AF3B53}"/>
              </a:ext>
            </a:extLst>
          </p:cNvPr>
          <p:cNvSpPr/>
          <p:nvPr/>
        </p:nvSpPr>
        <p:spPr>
          <a:xfrm>
            <a:off x="8344252" y="3856550"/>
            <a:ext cx="2514259" cy="968884"/>
          </a:xfrm>
          <a:custGeom>
            <a:avLst/>
            <a:gdLst/>
            <a:ahLst/>
            <a:cxnLst/>
            <a:rect l="l" t="t" r="r" b="b"/>
            <a:pathLst>
              <a:path w="2876695" h="1235911">
                <a:moveTo>
                  <a:pt x="0" y="0"/>
                </a:moveTo>
                <a:lnTo>
                  <a:pt x="2876695" y="0"/>
                </a:lnTo>
                <a:lnTo>
                  <a:pt x="2876695" y="1235911"/>
                </a:lnTo>
                <a:lnTo>
                  <a:pt x="0" y="1235911"/>
                </a:lnTo>
                <a:lnTo>
                  <a:pt x="0" y="0"/>
                </a:lnTo>
                <a:close/>
              </a:path>
            </a:pathLst>
          </a:custGeom>
          <a:blipFill>
            <a:blip r:embed="rId3"/>
            <a:stretch>
              <a:fillRect t="-19209" b="-26264"/>
            </a:stretch>
          </a:blipFill>
        </p:spPr>
        <p:txBody>
          <a:bodyPr/>
          <a:lstStyle/>
          <a:p>
            <a:endParaRPr lang="en-IN"/>
          </a:p>
        </p:txBody>
      </p:sp>
      <p:sp>
        <p:nvSpPr>
          <p:cNvPr id="6" name="Freeform 7">
            <a:extLst>
              <a:ext uri="{FF2B5EF4-FFF2-40B4-BE49-F238E27FC236}">
                <a16:creationId xmlns:a16="http://schemas.microsoft.com/office/drawing/2014/main" id="{145FACF7-F9E4-E9BE-8F81-B35A309CAE30}"/>
              </a:ext>
            </a:extLst>
          </p:cNvPr>
          <p:cNvSpPr/>
          <p:nvPr/>
        </p:nvSpPr>
        <p:spPr>
          <a:xfrm>
            <a:off x="9601382" y="5005642"/>
            <a:ext cx="2039217" cy="1127659"/>
          </a:xfrm>
          <a:custGeom>
            <a:avLst/>
            <a:gdLst/>
            <a:ahLst/>
            <a:cxnLst/>
            <a:rect l="l" t="t" r="r" b="b"/>
            <a:pathLst>
              <a:path w="3158082" h="1776947">
                <a:moveTo>
                  <a:pt x="0" y="0"/>
                </a:moveTo>
                <a:lnTo>
                  <a:pt x="3158082" y="0"/>
                </a:lnTo>
                <a:lnTo>
                  <a:pt x="3158082" y="1776947"/>
                </a:lnTo>
                <a:lnTo>
                  <a:pt x="0" y="1776947"/>
                </a:lnTo>
                <a:lnTo>
                  <a:pt x="0" y="0"/>
                </a:lnTo>
                <a:close/>
              </a:path>
            </a:pathLst>
          </a:custGeom>
          <a:blipFill>
            <a:blip r:embed="rId4"/>
            <a:stretch>
              <a:fillRect/>
            </a:stretch>
          </a:blipFill>
        </p:spPr>
        <p:txBody>
          <a:bodyPr/>
          <a:lstStyle/>
          <a:p>
            <a:endParaRPr lang="en-IN"/>
          </a:p>
        </p:txBody>
      </p:sp>
      <p:sp>
        <p:nvSpPr>
          <p:cNvPr id="8" name="TextBox 7">
            <a:extLst>
              <a:ext uri="{FF2B5EF4-FFF2-40B4-BE49-F238E27FC236}">
                <a16:creationId xmlns:a16="http://schemas.microsoft.com/office/drawing/2014/main" id="{88FC87FC-88F6-2A4B-E603-C5A37E482FBC}"/>
              </a:ext>
            </a:extLst>
          </p:cNvPr>
          <p:cNvSpPr txBox="1"/>
          <p:nvPr/>
        </p:nvSpPr>
        <p:spPr>
          <a:xfrm>
            <a:off x="551401" y="2709009"/>
            <a:ext cx="7705577" cy="2860463"/>
          </a:xfrm>
          <a:prstGeom prst="rect">
            <a:avLst/>
          </a:prstGeom>
          <a:noFill/>
        </p:spPr>
        <p:txBody>
          <a:bodyPr wrap="square">
            <a:spAutoFit/>
          </a:bodyPr>
          <a:lstStyle/>
          <a:p>
            <a:pPr marL="566969" lvl="1" indent="-283484" algn="l">
              <a:lnSpc>
                <a:spcPts val="3676"/>
              </a:lnSpc>
              <a:buFont typeface="Arial"/>
              <a:buChar char="•"/>
            </a:pPr>
            <a:r>
              <a:rPr lang="en-US" b="1" dirty="0">
                <a:sym typeface="Canva Sans Bold"/>
              </a:rPr>
              <a:t>NodeJS </a:t>
            </a:r>
            <a:r>
              <a:rPr lang="en-US" b="1" dirty="0">
                <a:sym typeface="Canva Sans"/>
              </a:rPr>
              <a:t>-</a:t>
            </a:r>
            <a:r>
              <a:rPr lang="en-US" dirty="0">
                <a:sym typeface="Canva Sans"/>
              </a:rPr>
              <a:t> NodeJS is a JavaScript runtime that allows us to build scalable and high-performance applications.</a:t>
            </a:r>
          </a:p>
          <a:p>
            <a:pPr marL="566969" lvl="1" indent="-283484" algn="l">
              <a:lnSpc>
                <a:spcPts val="3676"/>
              </a:lnSpc>
              <a:buFont typeface="Arial"/>
              <a:buChar char="•"/>
            </a:pPr>
            <a:r>
              <a:rPr lang="en-US" b="1" dirty="0" err="1">
                <a:sym typeface="Canva Sans Bold"/>
              </a:rPr>
              <a:t>ExpressJS</a:t>
            </a:r>
            <a:r>
              <a:rPr lang="en-US" b="1" dirty="0">
                <a:sym typeface="Canva Sans Bold"/>
              </a:rPr>
              <a:t> -</a:t>
            </a:r>
            <a:r>
              <a:rPr lang="en-US" dirty="0">
                <a:sym typeface="Canva Sans Bold"/>
              </a:rPr>
              <a:t> </a:t>
            </a:r>
            <a:r>
              <a:rPr lang="en-US" dirty="0">
                <a:sym typeface="Canva Sans"/>
              </a:rPr>
              <a:t>Express is a minimal web framework for NodeJS, used to set up routing and middleware in our backend. </a:t>
            </a:r>
          </a:p>
          <a:p>
            <a:pPr marL="566969" lvl="1" indent="-283484" algn="l">
              <a:lnSpc>
                <a:spcPts val="3676"/>
              </a:lnSpc>
              <a:buFont typeface="Arial"/>
              <a:buChar char="•"/>
            </a:pPr>
            <a:r>
              <a:rPr lang="en-US" b="1" dirty="0">
                <a:sym typeface="Canva Sans Bold"/>
              </a:rPr>
              <a:t>FastAPI -</a:t>
            </a:r>
            <a:r>
              <a:rPr lang="en-US" dirty="0">
                <a:sym typeface="Canva Sans Bold"/>
              </a:rPr>
              <a:t> </a:t>
            </a:r>
            <a:r>
              <a:rPr lang="en-US" dirty="0">
                <a:sym typeface="Canva Sans"/>
              </a:rPr>
              <a:t>FastAPI is a modern, high-performance Python web framework designed for building APIs.</a:t>
            </a:r>
          </a:p>
        </p:txBody>
      </p:sp>
      <p:sp>
        <p:nvSpPr>
          <p:cNvPr id="11" name="Rectangle 10">
            <a:extLst>
              <a:ext uri="{FF2B5EF4-FFF2-40B4-BE49-F238E27FC236}">
                <a16:creationId xmlns:a16="http://schemas.microsoft.com/office/drawing/2014/main" id="{81F70CFA-56ED-0456-3F77-4C38677E7ACD}"/>
              </a:ext>
            </a:extLst>
          </p:cNvPr>
          <p:cNvSpPr/>
          <p:nvPr/>
        </p:nvSpPr>
        <p:spPr>
          <a:xfrm>
            <a:off x="10512770" y="356819"/>
            <a:ext cx="54534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5</a:t>
            </a:r>
          </a:p>
        </p:txBody>
      </p:sp>
    </p:spTree>
    <p:extLst>
      <p:ext uri="{BB962C8B-B14F-4D97-AF65-F5344CB8AC3E}">
        <p14:creationId xmlns:p14="http://schemas.microsoft.com/office/powerpoint/2010/main" val="2894792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4A13-EDC7-36E7-F60B-39E691503783}"/>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934EEC62-01C2-F4C2-AC6A-178F6C56CBB9}"/>
              </a:ext>
            </a:extLst>
          </p:cNvPr>
          <p:cNvSpPr/>
          <p:nvPr/>
        </p:nvSpPr>
        <p:spPr>
          <a:xfrm>
            <a:off x="843166" y="2949678"/>
            <a:ext cx="2839834" cy="2778022"/>
          </a:xfrm>
          <a:custGeom>
            <a:avLst/>
            <a:gdLst/>
            <a:ahLst/>
            <a:cxnLst/>
            <a:rect l="l" t="t" r="r" b="b"/>
            <a:pathLst>
              <a:path w="2040468" h="2040468">
                <a:moveTo>
                  <a:pt x="0" y="0"/>
                </a:moveTo>
                <a:lnTo>
                  <a:pt x="2040468" y="0"/>
                </a:lnTo>
                <a:lnTo>
                  <a:pt x="2040468" y="2040468"/>
                </a:lnTo>
                <a:lnTo>
                  <a:pt x="0" y="2040468"/>
                </a:lnTo>
                <a:lnTo>
                  <a:pt x="0" y="0"/>
                </a:lnTo>
                <a:close/>
              </a:path>
            </a:pathLst>
          </a:custGeom>
          <a:blipFill>
            <a:blip r:embed="rId2"/>
            <a:stretch>
              <a:fillRect/>
            </a:stretch>
          </a:blipFill>
        </p:spPr>
        <p:txBody>
          <a:bodyPr/>
          <a:lstStyle/>
          <a:p>
            <a:endParaRPr lang="en-IN"/>
          </a:p>
        </p:txBody>
      </p:sp>
      <p:sp>
        <p:nvSpPr>
          <p:cNvPr id="10" name="TextBox 9">
            <a:extLst>
              <a:ext uri="{FF2B5EF4-FFF2-40B4-BE49-F238E27FC236}">
                <a16:creationId xmlns:a16="http://schemas.microsoft.com/office/drawing/2014/main" id="{BE8C8D44-F9CD-0361-D799-F073BDFCC3C4}"/>
              </a:ext>
            </a:extLst>
          </p:cNvPr>
          <p:cNvSpPr txBox="1"/>
          <p:nvPr/>
        </p:nvSpPr>
        <p:spPr>
          <a:xfrm>
            <a:off x="3849117" y="2949678"/>
            <a:ext cx="7499717" cy="2879506"/>
          </a:xfrm>
          <a:prstGeom prst="rect">
            <a:avLst/>
          </a:prstGeom>
          <a:noFill/>
        </p:spPr>
        <p:txBody>
          <a:bodyPr wrap="square">
            <a:spAutoFit/>
          </a:bodyPr>
          <a:lstStyle/>
          <a:p>
            <a:pPr marL="566969" lvl="1" indent="-283484" algn="l">
              <a:lnSpc>
                <a:spcPts val="3676"/>
              </a:lnSpc>
              <a:buFont typeface="Arial"/>
              <a:buChar char="•"/>
            </a:pPr>
            <a:r>
              <a:rPr lang="en-US" sz="1800" b="1" dirty="0">
                <a:sym typeface="Canva Sans Bold"/>
              </a:rPr>
              <a:t>MongoDB -</a:t>
            </a:r>
            <a:r>
              <a:rPr lang="en-US" sz="1800" dirty="0">
                <a:sym typeface="Canva Sans"/>
              </a:rPr>
              <a:t> MongoDB is a NoSQL database, making it perfect for storing unstructured data like images, user profiles, and face recognition results.</a:t>
            </a:r>
          </a:p>
          <a:p>
            <a:pPr marL="566969" lvl="1" indent="-283484" algn="l">
              <a:lnSpc>
                <a:spcPts val="3676"/>
              </a:lnSpc>
              <a:buFont typeface="Arial"/>
              <a:buChar char="•"/>
            </a:pPr>
            <a:r>
              <a:rPr lang="en-US" sz="1800" b="1" dirty="0">
                <a:sym typeface="Canva Sans Bold"/>
              </a:rPr>
              <a:t>Mongoose -</a:t>
            </a:r>
            <a:r>
              <a:rPr lang="en-US" sz="1800" dirty="0">
                <a:sym typeface="Canva Sans Bold"/>
              </a:rPr>
              <a:t> </a:t>
            </a:r>
            <a:r>
              <a:rPr lang="en-US" sz="1800" dirty="0">
                <a:sym typeface="Canva Sans"/>
              </a:rPr>
              <a:t>Mongoose is an ODM (Object Data Modeling) library for MongoDB. It provides a convenient way to define schemas and interact with the </a:t>
            </a:r>
            <a:r>
              <a:rPr lang="en-US" sz="1800" dirty="0">
                <a:solidFill>
                  <a:srgbClr val="000000"/>
                </a:solidFill>
                <a:latin typeface="Canva Sans"/>
                <a:ea typeface="Canva Sans"/>
                <a:cs typeface="Canva Sans"/>
                <a:sym typeface="Canva Sans"/>
              </a:rPr>
              <a:t>database</a:t>
            </a:r>
          </a:p>
        </p:txBody>
      </p:sp>
      <p:sp>
        <p:nvSpPr>
          <p:cNvPr id="2" name="Rectangle 1">
            <a:extLst>
              <a:ext uri="{FF2B5EF4-FFF2-40B4-BE49-F238E27FC236}">
                <a16:creationId xmlns:a16="http://schemas.microsoft.com/office/drawing/2014/main" id="{28AB8DE7-51EC-3952-4C1C-D93FCC00767D}"/>
              </a:ext>
            </a:extLst>
          </p:cNvPr>
          <p:cNvSpPr/>
          <p:nvPr/>
        </p:nvSpPr>
        <p:spPr>
          <a:xfrm>
            <a:off x="702486" y="850858"/>
            <a:ext cx="605967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Tech Stack Backend:</a:t>
            </a:r>
          </a:p>
        </p:txBody>
      </p:sp>
      <p:sp>
        <p:nvSpPr>
          <p:cNvPr id="3" name="Rectangle 2">
            <a:extLst>
              <a:ext uri="{FF2B5EF4-FFF2-40B4-BE49-F238E27FC236}">
                <a16:creationId xmlns:a16="http://schemas.microsoft.com/office/drawing/2014/main" id="{CDA5FB43-3C42-ADCB-D3A8-AF9672E1E75D}"/>
              </a:ext>
            </a:extLst>
          </p:cNvPr>
          <p:cNvSpPr/>
          <p:nvPr/>
        </p:nvSpPr>
        <p:spPr>
          <a:xfrm>
            <a:off x="10512770" y="356819"/>
            <a:ext cx="546945" cy="769441"/>
          </a:xfrm>
          <a:prstGeom prst="rect">
            <a:avLst/>
          </a:prstGeom>
          <a:noFill/>
        </p:spPr>
        <p:txBody>
          <a:bodyPr wrap="none" lIns="91440" tIns="45720" rIns="91440" bIns="45720">
            <a:spAutoFit/>
          </a:bodyPr>
          <a:lstStyle/>
          <a:p>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6</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Tree>
    <p:extLst>
      <p:ext uri="{BB962C8B-B14F-4D97-AF65-F5344CB8AC3E}">
        <p14:creationId xmlns:p14="http://schemas.microsoft.com/office/powerpoint/2010/main" val="409077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4828-237F-E9F7-CB93-83E654813E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15EBAA-10A8-F8E5-1D1A-A3BABA8FA3F2}"/>
              </a:ext>
            </a:extLst>
          </p:cNvPr>
          <p:cNvSpPr/>
          <p:nvPr/>
        </p:nvSpPr>
        <p:spPr>
          <a:xfrm>
            <a:off x="702486" y="850858"/>
            <a:ext cx="6800260"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Tech Stack </a:t>
            </a:r>
            <a:r>
              <a:rPr lang="en-US" sz="4400" b="0" cap="none" spc="0" dirty="0" err="1">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Additionals</a:t>
            </a:r>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t>
            </a:r>
          </a:p>
        </p:txBody>
      </p:sp>
      <p:sp>
        <p:nvSpPr>
          <p:cNvPr id="3" name="Freeform 2">
            <a:extLst>
              <a:ext uri="{FF2B5EF4-FFF2-40B4-BE49-F238E27FC236}">
                <a16:creationId xmlns:a16="http://schemas.microsoft.com/office/drawing/2014/main" id="{357C844E-B963-3818-5B3C-BDC636B714A5}"/>
              </a:ext>
            </a:extLst>
          </p:cNvPr>
          <p:cNvSpPr/>
          <p:nvPr/>
        </p:nvSpPr>
        <p:spPr>
          <a:xfrm>
            <a:off x="574261" y="2260978"/>
            <a:ext cx="1445039" cy="1012111"/>
          </a:xfrm>
          <a:custGeom>
            <a:avLst/>
            <a:gdLst/>
            <a:ahLst/>
            <a:cxnLst/>
            <a:rect l="l" t="t" r="r" b="b"/>
            <a:pathLst>
              <a:path w="2203548" h="1545238">
                <a:moveTo>
                  <a:pt x="0" y="0"/>
                </a:moveTo>
                <a:lnTo>
                  <a:pt x="2203548" y="0"/>
                </a:lnTo>
                <a:lnTo>
                  <a:pt x="2203548" y="1545237"/>
                </a:lnTo>
                <a:lnTo>
                  <a:pt x="0" y="1545237"/>
                </a:lnTo>
                <a:lnTo>
                  <a:pt x="0" y="0"/>
                </a:lnTo>
                <a:close/>
              </a:path>
            </a:pathLst>
          </a:custGeom>
          <a:blipFill>
            <a:blip r:embed="rId2"/>
            <a:stretch>
              <a:fillRect/>
            </a:stretch>
          </a:blipFill>
        </p:spPr>
        <p:txBody>
          <a:bodyPr/>
          <a:lstStyle/>
          <a:p>
            <a:endParaRPr lang="en-IN"/>
          </a:p>
        </p:txBody>
      </p:sp>
      <p:sp>
        <p:nvSpPr>
          <p:cNvPr id="4" name="Freeform 3">
            <a:extLst>
              <a:ext uri="{FF2B5EF4-FFF2-40B4-BE49-F238E27FC236}">
                <a16:creationId xmlns:a16="http://schemas.microsoft.com/office/drawing/2014/main" id="{02DD2E75-0824-55FD-012D-3B24D31E91CE}"/>
              </a:ext>
            </a:extLst>
          </p:cNvPr>
          <p:cNvSpPr/>
          <p:nvPr/>
        </p:nvSpPr>
        <p:spPr>
          <a:xfrm>
            <a:off x="720310" y="3379583"/>
            <a:ext cx="1152939" cy="1192571"/>
          </a:xfrm>
          <a:custGeom>
            <a:avLst/>
            <a:gdLst/>
            <a:ahLst/>
            <a:cxnLst/>
            <a:rect l="l" t="t" r="r" b="b"/>
            <a:pathLst>
              <a:path w="2706084" h="1416798">
                <a:moveTo>
                  <a:pt x="0" y="0"/>
                </a:moveTo>
                <a:lnTo>
                  <a:pt x="2706084" y="0"/>
                </a:lnTo>
                <a:lnTo>
                  <a:pt x="2706084" y="1416798"/>
                </a:lnTo>
                <a:lnTo>
                  <a:pt x="0" y="1416798"/>
                </a:lnTo>
                <a:lnTo>
                  <a:pt x="0" y="0"/>
                </a:lnTo>
                <a:close/>
              </a:path>
            </a:pathLst>
          </a:custGeom>
          <a:blipFill>
            <a:blip r:embed="rId3"/>
            <a:stretch>
              <a:fillRect r="-97520"/>
            </a:stretch>
          </a:blipFill>
        </p:spPr>
        <p:txBody>
          <a:bodyPr/>
          <a:lstStyle/>
          <a:p>
            <a:endParaRPr lang="en-IN" dirty="0"/>
          </a:p>
        </p:txBody>
      </p:sp>
      <p:sp>
        <p:nvSpPr>
          <p:cNvPr id="5" name="Freeform 4">
            <a:extLst>
              <a:ext uri="{FF2B5EF4-FFF2-40B4-BE49-F238E27FC236}">
                <a16:creationId xmlns:a16="http://schemas.microsoft.com/office/drawing/2014/main" id="{84381F29-41C1-CF7B-4A8D-24FE0154B607}"/>
              </a:ext>
            </a:extLst>
          </p:cNvPr>
          <p:cNvSpPr/>
          <p:nvPr/>
        </p:nvSpPr>
        <p:spPr>
          <a:xfrm>
            <a:off x="10067695" y="5420759"/>
            <a:ext cx="1905305" cy="1056795"/>
          </a:xfrm>
          <a:custGeom>
            <a:avLst/>
            <a:gdLst/>
            <a:ahLst/>
            <a:cxnLst/>
            <a:rect l="l" t="t" r="r" b="b"/>
            <a:pathLst>
              <a:path w="3239901" h="1822444">
                <a:moveTo>
                  <a:pt x="0" y="0"/>
                </a:moveTo>
                <a:lnTo>
                  <a:pt x="3239901" y="0"/>
                </a:lnTo>
                <a:lnTo>
                  <a:pt x="3239901" y="1822444"/>
                </a:lnTo>
                <a:lnTo>
                  <a:pt x="0" y="1822444"/>
                </a:lnTo>
                <a:lnTo>
                  <a:pt x="0" y="0"/>
                </a:lnTo>
                <a:close/>
              </a:path>
            </a:pathLst>
          </a:custGeom>
          <a:blipFill>
            <a:blip r:embed="rId4"/>
            <a:stretch>
              <a:fillRect/>
            </a:stretch>
          </a:blipFill>
        </p:spPr>
        <p:txBody>
          <a:bodyPr/>
          <a:lstStyle/>
          <a:p>
            <a:endParaRPr lang="en-IN"/>
          </a:p>
        </p:txBody>
      </p:sp>
      <p:sp>
        <p:nvSpPr>
          <p:cNvPr id="6" name="Freeform 5">
            <a:extLst>
              <a:ext uri="{FF2B5EF4-FFF2-40B4-BE49-F238E27FC236}">
                <a16:creationId xmlns:a16="http://schemas.microsoft.com/office/drawing/2014/main" id="{7A3FEA1B-5457-CDCA-8CAD-344CB223E905}"/>
              </a:ext>
            </a:extLst>
          </p:cNvPr>
          <p:cNvSpPr/>
          <p:nvPr/>
        </p:nvSpPr>
        <p:spPr>
          <a:xfrm>
            <a:off x="9004301" y="4427088"/>
            <a:ext cx="1568295" cy="1291850"/>
          </a:xfrm>
          <a:custGeom>
            <a:avLst/>
            <a:gdLst/>
            <a:ahLst/>
            <a:cxnLst/>
            <a:rect l="l" t="t" r="r" b="b"/>
            <a:pathLst>
              <a:path w="3560149" h="1860178">
                <a:moveTo>
                  <a:pt x="0" y="0"/>
                </a:moveTo>
                <a:lnTo>
                  <a:pt x="3560149" y="0"/>
                </a:lnTo>
                <a:lnTo>
                  <a:pt x="3560149" y="1860177"/>
                </a:lnTo>
                <a:lnTo>
                  <a:pt x="0" y="1860177"/>
                </a:lnTo>
                <a:lnTo>
                  <a:pt x="0" y="0"/>
                </a:lnTo>
                <a:close/>
              </a:path>
            </a:pathLst>
          </a:custGeom>
          <a:blipFill>
            <a:blip r:embed="rId5"/>
            <a:stretch>
              <a:fillRect l="-29806" r="-27681"/>
            </a:stretch>
          </a:blipFill>
        </p:spPr>
        <p:txBody>
          <a:bodyPr/>
          <a:lstStyle/>
          <a:p>
            <a:endParaRPr lang="en-IN"/>
          </a:p>
        </p:txBody>
      </p:sp>
      <p:sp>
        <p:nvSpPr>
          <p:cNvPr id="7" name="TextBox 6">
            <a:extLst>
              <a:ext uri="{FF2B5EF4-FFF2-40B4-BE49-F238E27FC236}">
                <a16:creationId xmlns:a16="http://schemas.microsoft.com/office/drawing/2014/main" id="{3B7F38C0-4B20-EF45-70AB-01B2D06D3C19}"/>
              </a:ext>
            </a:extLst>
          </p:cNvPr>
          <p:cNvSpPr txBox="1"/>
          <p:nvPr/>
        </p:nvSpPr>
        <p:spPr>
          <a:xfrm>
            <a:off x="409501" y="4678648"/>
            <a:ext cx="8594800" cy="19228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566969" lvl="1" indent="-283484">
              <a:lnSpc>
                <a:spcPts val="3676"/>
              </a:lnSpc>
              <a:buFont typeface="Arial"/>
              <a:buChar cha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b="1" dirty="0">
                <a:sym typeface="Canva Sans Bold"/>
              </a:rPr>
              <a:t>Postman -</a:t>
            </a:r>
            <a:r>
              <a:rPr lang="en-US" dirty="0">
                <a:sym typeface="Canva Sans Bold"/>
              </a:rPr>
              <a:t> </a:t>
            </a:r>
            <a:r>
              <a:rPr lang="en-US" dirty="0">
                <a:sym typeface="Canva Sans"/>
              </a:rPr>
              <a:t>Postman is used for testing and documenting the APIs. It allows us to make HTTP requests, test the backend endpoints.</a:t>
            </a:r>
          </a:p>
          <a:p>
            <a:pPr lvl="1"/>
            <a:r>
              <a:rPr lang="en-US" b="1" dirty="0">
                <a:sym typeface="Canva Sans Bold"/>
              </a:rPr>
              <a:t>GitHub</a:t>
            </a:r>
            <a:r>
              <a:rPr lang="en-US" b="1" dirty="0">
                <a:sym typeface="Canva Sans"/>
              </a:rPr>
              <a:t> -</a:t>
            </a:r>
            <a:r>
              <a:rPr lang="en-US" dirty="0">
                <a:sym typeface="Canva Sans"/>
              </a:rPr>
              <a:t> GitHub is essential for version control, collaboration, and code management.</a:t>
            </a:r>
          </a:p>
        </p:txBody>
      </p:sp>
      <p:sp>
        <p:nvSpPr>
          <p:cNvPr id="9" name="TextBox 8">
            <a:extLst>
              <a:ext uri="{FF2B5EF4-FFF2-40B4-BE49-F238E27FC236}">
                <a16:creationId xmlns:a16="http://schemas.microsoft.com/office/drawing/2014/main" id="{31BEF84C-822F-768F-4D0C-C07E4DB72ACD}"/>
              </a:ext>
            </a:extLst>
          </p:cNvPr>
          <p:cNvSpPr txBox="1"/>
          <p:nvPr/>
        </p:nvSpPr>
        <p:spPr>
          <a:xfrm>
            <a:off x="2209460" y="2464323"/>
            <a:ext cx="9573039" cy="1701491"/>
          </a:xfrm>
          <a:prstGeom prst="rect">
            <a:avLst/>
          </a:prstGeom>
          <a:noFill/>
        </p:spPr>
        <p:txBody>
          <a:bodyPr wrap="square">
            <a:spAutoFit/>
          </a:bodyPr>
          <a:lstStyle/>
          <a:p>
            <a:pPr marL="742950" lvl="1" indent="-285750">
              <a:lnSpc>
                <a:spcPct val="150000"/>
              </a:lnSpc>
              <a:buFont typeface="Arial" panose="020B0604020202020204" pitchFamily="34" charset="0"/>
              <a:buChar char="•"/>
            </a:pPr>
            <a:r>
              <a:rPr lang="en-US" b="1" dirty="0" err="1">
                <a:sym typeface="Canva Sans Bold"/>
              </a:rPr>
              <a:t>Cloudinary</a:t>
            </a:r>
            <a:r>
              <a:rPr lang="en-US" b="1" dirty="0">
                <a:sym typeface="Canva Sans Bold"/>
              </a:rPr>
              <a:t> </a:t>
            </a:r>
            <a:r>
              <a:rPr lang="en-US" b="1" dirty="0">
                <a:sym typeface="Canva Sans"/>
              </a:rPr>
              <a:t>-</a:t>
            </a:r>
            <a:r>
              <a:rPr lang="en-US" dirty="0">
                <a:sym typeface="Canva Sans"/>
              </a:rPr>
              <a:t> </a:t>
            </a:r>
            <a:r>
              <a:rPr lang="en-US" dirty="0" err="1">
                <a:sym typeface="Canva Sans"/>
              </a:rPr>
              <a:t>Cloudinary</a:t>
            </a:r>
            <a:r>
              <a:rPr lang="en-US" dirty="0">
                <a:sym typeface="Canva Sans"/>
              </a:rPr>
              <a:t> is a powerful cloud service that simplifies image management, such as storing, optimizing, and transforming images.</a:t>
            </a:r>
          </a:p>
          <a:p>
            <a:pPr marL="742950" lvl="1" indent="-285750">
              <a:lnSpc>
                <a:spcPct val="150000"/>
              </a:lnSpc>
              <a:buFont typeface="Arial" panose="020B0604020202020204" pitchFamily="34" charset="0"/>
              <a:buChar char="•"/>
            </a:pPr>
            <a:r>
              <a:rPr lang="en-US" b="1" dirty="0" err="1">
                <a:sym typeface="Canva Sans"/>
              </a:rPr>
              <a:t>ProtectedRoutes</a:t>
            </a:r>
            <a:r>
              <a:rPr lang="en-US" b="1" dirty="0">
                <a:sym typeface="Canva Sans"/>
              </a:rPr>
              <a:t> – </a:t>
            </a:r>
            <a:r>
              <a:rPr lang="en-US" dirty="0">
                <a:sym typeface="Canva Sans"/>
              </a:rPr>
              <a:t>Authentication to identify and allow correct users to login and access the application.</a:t>
            </a:r>
            <a:endParaRPr lang="en-US" b="1" dirty="0">
              <a:sym typeface="Canva Sans"/>
            </a:endParaRPr>
          </a:p>
        </p:txBody>
      </p:sp>
      <p:sp>
        <p:nvSpPr>
          <p:cNvPr id="12" name="Rectangle 11">
            <a:extLst>
              <a:ext uri="{FF2B5EF4-FFF2-40B4-BE49-F238E27FC236}">
                <a16:creationId xmlns:a16="http://schemas.microsoft.com/office/drawing/2014/main" id="{D5666DEE-8FF9-A86A-0D32-50D08115867B}"/>
              </a:ext>
            </a:extLst>
          </p:cNvPr>
          <p:cNvSpPr/>
          <p:nvPr/>
        </p:nvSpPr>
        <p:spPr>
          <a:xfrm>
            <a:off x="10523044" y="346545"/>
            <a:ext cx="500458"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7</a:t>
            </a:r>
          </a:p>
        </p:txBody>
      </p:sp>
    </p:spTree>
    <p:extLst>
      <p:ext uri="{BB962C8B-B14F-4D97-AF65-F5344CB8AC3E}">
        <p14:creationId xmlns:p14="http://schemas.microsoft.com/office/powerpoint/2010/main" val="4164614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F48698-260B-804A-7994-4DA21F3CB89E}"/>
              </a:ext>
            </a:extLst>
          </p:cNvPr>
          <p:cNvPicPr>
            <a:picLocks noChangeAspect="1"/>
          </p:cNvPicPr>
          <p:nvPr/>
        </p:nvPicPr>
        <p:blipFill>
          <a:blip r:embed="rId2"/>
          <a:stretch>
            <a:fillRect/>
          </a:stretch>
        </p:blipFill>
        <p:spPr>
          <a:xfrm>
            <a:off x="5059531" y="339046"/>
            <a:ext cx="5122159" cy="6164253"/>
          </a:xfrm>
          <a:prstGeom prst="rect">
            <a:avLst/>
          </a:prstGeom>
        </p:spPr>
      </p:pic>
      <p:sp>
        <p:nvSpPr>
          <p:cNvPr id="11" name="Rectangle 10">
            <a:extLst>
              <a:ext uri="{FF2B5EF4-FFF2-40B4-BE49-F238E27FC236}">
                <a16:creationId xmlns:a16="http://schemas.microsoft.com/office/drawing/2014/main" id="{3378BB18-D973-D426-289E-1B6FFE8A0B8D}"/>
              </a:ext>
            </a:extLst>
          </p:cNvPr>
          <p:cNvSpPr/>
          <p:nvPr/>
        </p:nvSpPr>
        <p:spPr>
          <a:xfrm>
            <a:off x="762409" y="2532230"/>
            <a:ext cx="3491661" cy="1323439"/>
          </a:xfrm>
          <a:prstGeom prst="rect">
            <a:avLst/>
          </a:prstGeom>
          <a:noFill/>
        </p:spPr>
        <p:txBody>
          <a:bodyPr wrap="none" lIns="91440" tIns="45720" rIns="91440" bIns="45720">
            <a:spAutoFit/>
          </a:bodyPr>
          <a:lstStyle/>
          <a:p>
            <a:r>
              <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System</a:t>
            </a:r>
          </a:p>
          <a:p>
            <a:r>
              <a:rPr lang="en-US" sz="40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Architecture:</a:t>
            </a:r>
            <a:endPar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12" name="Rectangle 11">
            <a:extLst>
              <a:ext uri="{FF2B5EF4-FFF2-40B4-BE49-F238E27FC236}">
                <a16:creationId xmlns:a16="http://schemas.microsoft.com/office/drawing/2014/main" id="{E862FE40-DB80-D2C9-1421-6CB2A3763008}"/>
              </a:ext>
            </a:extLst>
          </p:cNvPr>
          <p:cNvSpPr/>
          <p:nvPr/>
        </p:nvSpPr>
        <p:spPr>
          <a:xfrm>
            <a:off x="10523044" y="346545"/>
            <a:ext cx="54534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8</a:t>
            </a:r>
          </a:p>
        </p:txBody>
      </p:sp>
    </p:spTree>
    <p:extLst>
      <p:ext uri="{BB962C8B-B14F-4D97-AF65-F5344CB8AC3E}">
        <p14:creationId xmlns:p14="http://schemas.microsoft.com/office/powerpoint/2010/main" val="3415730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5B96-F47A-1C04-FE58-62FBF5A58BF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A09DBD6-ABB5-05E3-3DCF-16F17394F527}"/>
              </a:ext>
            </a:extLst>
          </p:cNvPr>
          <p:cNvSpPr/>
          <p:nvPr/>
        </p:nvSpPr>
        <p:spPr>
          <a:xfrm>
            <a:off x="749031" y="789583"/>
            <a:ext cx="5628464" cy="769441"/>
          </a:xfrm>
          <a:prstGeom prst="rect">
            <a:avLst/>
          </a:prstGeom>
          <a:noFill/>
        </p:spPr>
        <p:txBody>
          <a:bodyPr wrap="none" lIns="91440" tIns="45720" rIns="91440" bIns="45720">
            <a:spAutoFit/>
          </a:bodyPr>
          <a:lstStyle/>
          <a:p>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Frontend Overview:</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6" name="Rectangle 5">
            <a:extLst>
              <a:ext uri="{FF2B5EF4-FFF2-40B4-BE49-F238E27FC236}">
                <a16:creationId xmlns:a16="http://schemas.microsoft.com/office/drawing/2014/main" id="{6CFD2E06-A5B0-1801-97A6-C94C8BC22DA3}"/>
              </a:ext>
            </a:extLst>
          </p:cNvPr>
          <p:cNvSpPr/>
          <p:nvPr/>
        </p:nvSpPr>
        <p:spPr>
          <a:xfrm>
            <a:off x="10502496" y="356819"/>
            <a:ext cx="543739"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9</a:t>
            </a:r>
          </a:p>
        </p:txBody>
      </p:sp>
      <p:sp>
        <p:nvSpPr>
          <p:cNvPr id="7" name="TextBox 6">
            <a:extLst>
              <a:ext uri="{FF2B5EF4-FFF2-40B4-BE49-F238E27FC236}">
                <a16:creationId xmlns:a16="http://schemas.microsoft.com/office/drawing/2014/main" id="{11D1A0B9-A425-FC34-6BA6-8C9EBCD9247B}"/>
              </a:ext>
            </a:extLst>
          </p:cNvPr>
          <p:cNvSpPr txBox="1"/>
          <p:nvPr/>
        </p:nvSpPr>
        <p:spPr>
          <a:xfrm>
            <a:off x="722012" y="3821648"/>
            <a:ext cx="6016141" cy="1938992"/>
          </a:xfrm>
          <a:prstGeom prst="rect">
            <a:avLst/>
          </a:prstGeom>
          <a:noFill/>
        </p:spPr>
        <p:txBody>
          <a:bodyPr wrap="square" rtlCol="0">
            <a:spAutoFit/>
          </a:bodyPr>
          <a:lstStyle/>
          <a:p>
            <a:pPr rtl="0"/>
            <a:endParaRPr lang="en-US" sz="2000" dirty="0"/>
          </a:p>
          <a:p>
            <a:pPr marL="285750" indent="-285750" rtl="0">
              <a:buFont typeface="Arial" panose="020B0604020202020204" pitchFamily="34" charset="0"/>
              <a:buChar char="•"/>
            </a:pPr>
            <a:r>
              <a:rPr lang="en-US" sz="2000" dirty="0"/>
              <a:t>Once an image is uploaded, the frontend will send it to the backend for processing. The website also handles the download of results, and will automatically download the classified set as a zip folder.</a:t>
            </a:r>
          </a:p>
        </p:txBody>
      </p:sp>
      <p:pic>
        <p:nvPicPr>
          <p:cNvPr id="4098" name="Picture 2" descr="Frontend System Design - Abdallah Hemdan">
            <a:extLst>
              <a:ext uri="{FF2B5EF4-FFF2-40B4-BE49-F238E27FC236}">
                <a16:creationId xmlns:a16="http://schemas.microsoft.com/office/drawing/2014/main" id="{0AB76DC7-05D6-AF03-3A10-688D88D75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542" y="3429000"/>
            <a:ext cx="5688458" cy="30526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21BA344-4416-208C-E5AB-3E5778CC88A2}"/>
              </a:ext>
            </a:extLst>
          </p:cNvPr>
          <p:cNvSpPr txBox="1"/>
          <p:nvPr/>
        </p:nvSpPr>
        <p:spPr>
          <a:xfrm>
            <a:off x="722012" y="2488863"/>
            <a:ext cx="9708566" cy="1323439"/>
          </a:xfrm>
          <a:prstGeom prst="rect">
            <a:avLst/>
          </a:prstGeom>
          <a:noFill/>
        </p:spPr>
        <p:txBody>
          <a:bodyPr wrap="square">
            <a:spAutoFit/>
          </a:bodyPr>
          <a:lstStyle/>
          <a:p>
            <a:pPr marL="285750" indent="-285750" rtl="0">
              <a:buFont typeface="Arial" panose="020B0604020202020204" pitchFamily="34" charset="0"/>
              <a:buChar char="•"/>
            </a:pPr>
            <a:r>
              <a:rPr lang="en-US" sz="2000" dirty="0"/>
              <a:t>The frontend is a dynamic website designed to provide a user-friendly interface for interacting with the face recognition and classification system. It allows users to upload images containing faces through an intuitive file upload feature. </a:t>
            </a:r>
          </a:p>
        </p:txBody>
      </p:sp>
    </p:spTree>
    <p:extLst>
      <p:ext uri="{BB962C8B-B14F-4D97-AF65-F5344CB8AC3E}">
        <p14:creationId xmlns:p14="http://schemas.microsoft.com/office/powerpoint/2010/main" val="3347754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9E250-847B-083A-BA41-B5A043E9C111}"/>
              </a:ext>
            </a:extLst>
          </p:cNvPr>
          <p:cNvSpPr/>
          <p:nvPr/>
        </p:nvSpPr>
        <p:spPr>
          <a:xfrm>
            <a:off x="749031" y="789583"/>
            <a:ext cx="5628464" cy="769441"/>
          </a:xfrm>
          <a:prstGeom prst="rect">
            <a:avLst/>
          </a:prstGeom>
          <a:noFill/>
        </p:spPr>
        <p:txBody>
          <a:bodyPr wrap="none" lIns="91440" tIns="45720" rIns="91440" bIns="45720">
            <a:spAutoFit/>
          </a:bodyPr>
          <a:lstStyle/>
          <a:p>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Frontend Overview:</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pic>
        <p:nvPicPr>
          <p:cNvPr id="6" name="Picture 5">
            <a:extLst>
              <a:ext uri="{FF2B5EF4-FFF2-40B4-BE49-F238E27FC236}">
                <a16:creationId xmlns:a16="http://schemas.microsoft.com/office/drawing/2014/main" id="{D22030A3-5DF8-9DCC-CCFC-FE903B0059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046" y="3006119"/>
            <a:ext cx="5523386" cy="2589087"/>
          </a:xfrm>
          <a:prstGeom prst="rect">
            <a:avLst/>
          </a:prstGeom>
        </p:spPr>
      </p:pic>
      <p:pic>
        <p:nvPicPr>
          <p:cNvPr id="7" name="Picture 6">
            <a:extLst>
              <a:ext uri="{FF2B5EF4-FFF2-40B4-BE49-F238E27FC236}">
                <a16:creationId xmlns:a16="http://schemas.microsoft.com/office/drawing/2014/main" id="{90D2F6BB-ED49-767A-320C-B0927CA73D6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9155"/>
          <a:stretch/>
        </p:blipFill>
        <p:spPr bwMode="auto">
          <a:xfrm>
            <a:off x="6096000" y="2763749"/>
            <a:ext cx="5689731" cy="3073828"/>
          </a:xfrm>
          <a:prstGeom prst="rect">
            <a:avLst/>
          </a:prstGeom>
          <a:ln>
            <a:noFill/>
          </a:ln>
          <a:extLst>
            <a:ext uri="{53640926-AAD7-44D8-BBD7-CCE9431645EC}">
              <a14:shadowObscured xmlns:a14="http://schemas.microsoft.com/office/drawing/2010/main"/>
            </a:ext>
          </a:extLst>
        </p:spPr>
      </p:pic>
      <p:sp>
        <p:nvSpPr>
          <p:cNvPr id="8" name="Rectangle 7">
            <a:extLst>
              <a:ext uri="{FF2B5EF4-FFF2-40B4-BE49-F238E27FC236}">
                <a16:creationId xmlns:a16="http://schemas.microsoft.com/office/drawing/2014/main" id="{3D963ADE-1A0B-349B-AC43-DE61EE8D14EB}"/>
              </a:ext>
            </a:extLst>
          </p:cNvPr>
          <p:cNvSpPr/>
          <p:nvPr/>
        </p:nvSpPr>
        <p:spPr>
          <a:xfrm>
            <a:off x="10425495" y="356819"/>
            <a:ext cx="744114"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10</a:t>
            </a:r>
          </a:p>
        </p:txBody>
      </p:sp>
    </p:spTree>
    <p:extLst>
      <p:ext uri="{BB962C8B-B14F-4D97-AF65-F5344CB8AC3E}">
        <p14:creationId xmlns:p14="http://schemas.microsoft.com/office/powerpoint/2010/main" val="4111769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4CBE5-B162-92B3-B1B5-174730A3EE81}"/>
            </a:ext>
          </a:extLst>
        </p:cNvPr>
        <p:cNvGrpSpPr/>
        <p:nvPr/>
      </p:nvGrpSpPr>
      <p:grpSpPr>
        <a:xfrm>
          <a:off x="0" y="0"/>
          <a:ext cx="0" cy="0"/>
          <a:chOff x="0" y="0"/>
          <a:chExt cx="0" cy="0"/>
        </a:xfrm>
      </p:grpSpPr>
      <p:pic>
        <p:nvPicPr>
          <p:cNvPr id="3074" name="Picture 2" descr="Introduction to Deep Learning: What do I need to know…? | by Stacey  Ronaghan | Medium">
            <a:extLst>
              <a:ext uri="{FF2B5EF4-FFF2-40B4-BE49-F238E27FC236}">
                <a16:creationId xmlns:a16="http://schemas.microsoft.com/office/drawing/2014/main" id="{E2F2A780-D82C-1BA7-FA22-AC6411B23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3526" y="3457800"/>
            <a:ext cx="4992159" cy="30661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622B027-DAB4-76D0-BD38-3B431306704C}"/>
              </a:ext>
            </a:extLst>
          </p:cNvPr>
          <p:cNvSpPr/>
          <p:nvPr/>
        </p:nvSpPr>
        <p:spPr>
          <a:xfrm>
            <a:off x="10488978" y="356819"/>
            <a:ext cx="579005"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a:t>
            </a:r>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5" name="TextBox 4">
            <a:extLst>
              <a:ext uri="{FF2B5EF4-FFF2-40B4-BE49-F238E27FC236}">
                <a16:creationId xmlns:a16="http://schemas.microsoft.com/office/drawing/2014/main" id="{38F18A07-DC73-4A48-59D5-860D18CBBA27}"/>
              </a:ext>
            </a:extLst>
          </p:cNvPr>
          <p:cNvSpPr txBox="1"/>
          <p:nvPr/>
        </p:nvSpPr>
        <p:spPr>
          <a:xfrm>
            <a:off x="883293" y="3314744"/>
            <a:ext cx="5320959" cy="2862322"/>
          </a:xfrm>
          <a:prstGeom prst="rect">
            <a:avLst/>
          </a:prstGeom>
          <a:noFill/>
        </p:spPr>
        <p:txBody>
          <a:bodyPr wrap="square">
            <a:spAutoFit/>
          </a:bodyPr>
          <a:lstStyle/>
          <a:p>
            <a:pPr marL="285750" indent="-285750" rtl="0">
              <a:buFont typeface="Arial" panose="020B0604020202020204" pitchFamily="34" charset="0"/>
              <a:buChar char="•"/>
            </a:pPr>
            <a:endParaRPr lang="en-US" dirty="0"/>
          </a:p>
          <a:p>
            <a:pPr marL="285750" indent="-285750" rtl="0">
              <a:buFont typeface="Arial" panose="020B0604020202020204" pitchFamily="34" charset="0"/>
              <a:buChar char="•"/>
            </a:pPr>
            <a:r>
              <a:rPr lang="en-US" dirty="0"/>
              <a:t>The model then extracts features from the faces using its convolutional layers and attention mechanism - passes these features through fully connected layers for classification. </a:t>
            </a:r>
          </a:p>
          <a:p>
            <a:pPr marL="285750" indent="-285750" rtl="0">
              <a:buFont typeface="Arial" panose="020B0604020202020204" pitchFamily="34" charset="0"/>
              <a:buChar char="•"/>
            </a:pPr>
            <a:endParaRPr lang="en-US" dirty="0"/>
          </a:p>
          <a:p>
            <a:pPr marL="285750" indent="-285750" rtl="0">
              <a:buFont typeface="Arial" panose="020B0604020202020204" pitchFamily="34" charset="0"/>
              <a:buChar char="•"/>
            </a:pPr>
            <a:r>
              <a:rPr lang="en-US" dirty="0"/>
              <a:t>Once the processing is complete, the model annotates the image and classifies them into matched and unmatched</a:t>
            </a:r>
          </a:p>
        </p:txBody>
      </p:sp>
      <p:sp>
        <p:nvSpPr>
          <p:cNvPr id="6" name="Rectangle 5">
            <a:extLst>
              <a:ext uri="{FF2B5EF4-FFF2-40B4-BE49-F238E27FC236}">
                <a16:creationId xmlns:a16="http://schemas.microsoft.com/office/drawing/2014/main" id="{9513D69B-918A-625E-EE76-BE45A293BCC0}"/>
              </a:ext>
            </a:extLst>
          </p:cNvPr>
          <p:cNvSpPr/>
          <p:nvPr/>
        </p:nvSpPr>
        <p:spPr>
          <a:xfrm>
            <a:off x="883293" y="845321"/>
            <a:ext cx="482696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Model Overview:</a:t>
            </a:r>
            <a:endParaRPr lang="en-US" sz="28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8" name="TextBox 7">
            <a:extLst>
              <a:ext uri="{FF2B5EF4-FFF2-40B4-BE49-F238E27FC236}">
                <a16:creationId xmlns:a16="http://schemas.microsoft.com/office/drawing/2014/main" id="{36365B28-D7DB-AF4B-AF85-995BB39827BF}"/>
              </a:ext>
            </a:extLst>
          </p:cNvPr>
          <p:cNvSpPr txBox="1"/>
          <p:nvPr/>
        </p:nvSpPr>
        <p:spPr>
          <a:xfrm>
            <a:off x="883293" y="2492693"/>
            <a:ext cx="9050478" cy="923330"/>
          </a:xfrm>
          <a:prstGeom prst="rect">
            <a:avLst/>
          </a:prstGeom>
          <a:noFill/>
        </p:spPr>
        <p:txBody>
          <a:bodyPr wrap="square">
            <a:spAutoFit/>
          </a:bodyPr>
          <a:lstStyle/>
          <a:p>
            <a:pPr marL="285750" indent="-285750" rtl="0">
              <a:buFont typeface="Arial" panose="020B0604020202020204" pitchFamily="34" charset="0"/>
              <a:buChar char="•"/>
            </a:pPr>
            <a:r>
              <a:rPr lang="en-US" dirty="0"/>
              <a:t>The core of the system is a deep learning model, which utilizes a custom CNN Architecture (with a fallback mechanism to ResNet50V2 or </a:t>
            </a:r>
            <a:r>
              <a:rPr lang="en-US" dirty="0" err="1"/>
              <a:t>Efficientnet</a:t>
            </a:r>
            <a:r>
              <a:rPr lang="en-US" dirty="0"/>
              <a:t>).The model is designed for face recognition and classification. </a:t>
            </a:r>
          </a:p>
        </p:txBody>
      </p:sp>
    </p:spTree>
    <p:extLst>
      <p:ext uri="{BB962C8B-B14F-4D97-AF65-F5344CB8AC3E}">
        <p14:creationId xmlns:p14="http://schemas.microsoft.com/office/powerpoint/2010/main" val="3044596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8A1A-6803-9F70-99A8-998C540F907D}"/>
            </a:ext>
          </a:extLst>
        </p:cNvPr>
        <p:cNvGrpSpPr/>
        <p:nvPr/>
      </p:nvGrpSpPr>
      <p:grpSpPr>
        <a:xfrm>
          <a:off x="0" y="0"/>
          <a:ext cx="0" cy="0"/>
          <a:chOff x="0" y="0"/>
          <a:chExt cx="0" cy="0"/>
        </a:xfrm>
      </p:grpSpPr>
      <p:grpSp>
        <p:nvGrpSpPr>
          <p:cNvPr id="279" name="Group 278">
            <a:extLst>
              <a:ext uri="{FF2B5EF4-FFF2-40B4-BE49-F238E27FC236}">
                <a16:creationId xmlns:a16="http://schemas.microsoft.com/office/drawing/2014/main" id="{D19A5A87-E57C-BDE4-1CDD-E19E515063A6}"/>
              </a:ext>
            </a:extLst>
          </p:cNvPr>
          <p:cNvGrpSpPr/>
          <p:nvPr/>
        </p:nvGrpSpPr>
        <p:grpSpPr>
          <a:xfrm>
            <a:off x="2290211" y="2576310"/>
            <a:ext cx="7611577" cy="3799570"/>
            <a:chOff x="2991572" y="2815239"/>
            <a:chExt cx="6247765" cy="2900680"/>
          </a:xfrm>
        </p:grpSpPr>
        <p:sp>
          <p:nvSpPr>
            <p:cNvPr id="254" name="Rectangle 253">
              <a:extLst>
                <a:ext uri="{FF2B5EF4-FFF2-40B4-BE49-F238E27FC236}">
                  <a16:creationId xmlns:a16="http://schemas.microsoft.com/office/drawing/2014/main" id="{C03CD01C-9FF6-C377-D2DC-85C3B0DA06B0}"/>
                </a:ext>
              </a:extLst>
            </p:cNvPr>
            <p:cNvSpPr/>
            <p:nvPr/>
          </p:nvSpPr>
          <p:spPr>
            <a:xfrm>
              <a:off x="2991572" y="2815239"/>
              <a:ext cx="6247765" cy="29006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Home Page</a:t>
              </a:r>
              <a:endParaRPr lang="en-IN" sz="1200">
                <a:effectLst/>
                <a:latin typeface="Times New Roman" panose="02020603050405020304" pitchFamily="18" charset="0"/>
                <a:ea typeface="Times New Roman" panose="02020603050405020304" pitchFamily="18" charset="0"/>
              </a:endParaRPr>
            </a:p>
          </p:txBody>
        </p:sp>
        <p:sp>
          <p:nvSpPr>
            <p:cNvPr id="255" name="Rectangle 254">
              <a:extLst>
                <a:ext uri="{FF2B5EF4-FFF2-40B4-BE49-F238E27FC236}">
                  <a16:creationId xmlns:a16="http://schemas.microsoft.com/office/drawing/2014/main" id="{21BAFEE3-65C8-07D0-FF30-8E68FF06F76C}"/>
                </a:ext>
              </a:extLst>
            </p:cNvPr>
            <p:cNvSpPr/>
            <p:nvPr/>
          </p:nvSpPr>
          <p:spPr>
            <a:xfrm>
              <a:off x="3304627" y="3180999"/>
              <a:ext cx="4554220" cy="2321560"/>
            </a:xfrm>
            <a:prstGeom prst="rect">
              <a:avLst/>
            </a:prstGeom>
            <a:solidFill>
              <a:schemeClr val="accent2"/>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Registration Page</a:t>
              </a:r>
              <a:endParaRPr lang="en-IN" sz="1200">
                <a:effectLst/>
                <a:latin typeface="Times New Roman" panose="02020603050405020304" pitchFamily="18" charset="0"/>
                <a:ea typeface="Times New Roman" panose="02020603050405020304" pitchFamily="18" charset="0"/>
              </a:endParaRPr>
            </a:p>
          </p:txBody>
        </p:sp>
        <p:sp>
          <p:nvSpPr>
            <p:cNvPr id="256" name="Rectangle 255">
              <a:extLst>
                <a:ext uri="{FF2B5EF4-FFF2-40B4-BE49-F238E27FC236}">
                  <a16:creationId xmlns:a16="http://schemas.microsoft.com/office/drawing/2014/main" id="{E204DBD1-C916-2339-EC7E-BEFFB9039547}"/>
                </a:ext>
              </a:extLst>
            </p:cNvPr>
            <p:cNvSpPr/>
            <p:nvPr/>
          </p:nvSpPr>
          <p:spPr>
            <a:xfrm>
              <a:off x="3461472" y="4014119"/>
              <a:ext cx="2066925" cy="1327785"/>
            </a:xfrm>
            <a:prstGeom prst="rect">
              <a:avLst/>
            </a:prstGeom>
            <a:solidFill>
              <a:schemeClr val="accent3"/>
            </a:solid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Login Page</a:t>
              </a:r>
              <a:endParaRPr lang="en-IN" sz="1200">
                <a:effectLst/>
                <a:latin typeface="Times New Roman" panose="02020603050405020304" pitchFamily="18" charset="0"/>
                <a:ea typeface="Times New Roman" panose="02020603050405020304" pitchFamily="18" charset="0"/>
              </a:endParaRPr>
            </a:p>
          </p:txBody>
        </p:sp>
        <p:sp>
          <p:nvSpPr>
            <p:cNvPr id="257" name="Text Box 2">
              <a:extLst>
                <a:ext uri="{FF2B5EF4-FFF2-40B4-BE49-F238E27FC236}">
                  <a16:creationId xmlns:a16="http://schemas.microsoft.com/office/drawing/2014/main" id="{ABFF4B6D-EB85-5103-989F-CCDEA6376ED8}"/>
                </a:ext>
              </a:extLst>
            </p:cNvPr>
            <p:cNvSpPr txBox="1">
              <a:spLocks noChangeArrowheads="1"/>
            </p:cNvSpPr>
            <p:nvPr/>
          </p:nvSpPr>
          <p:spPr bwMode="auto">
            <a:xfrm>
              <a:off x="7954097" y="3807109"/>
              <a:ext cx="1152525" cy="285750"/>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200">
                  <a:effectLst/>
                  <a:latin typeface="Times New Roman" panose="02020603050405020304" pitchFamily="18" charset="0"/>
                  <a:ea typeface="Times New Roman" panose="02020603050405020304" pitchFamily="18" charset="0"/>
                </a:rPr>
                <a:t>Welcome Page</a:t>
              </a:r>
            </a:p>
          </p:txBody>
        </p:sp>
        <p:sp>
          <p:nvSpPr>
            <p:cNvPr id="258" name="Text Box 2">
              <a:extLst>
                <a:ext uri="{FF2B5EF4-FFF2-40B4-BE49-F238E27FC236}">
                  <a16:creationId xmlns:a16="http://schemas.microsoft.com/office/drawing/2014/main" id="{2BEDC8D8-0D9D-21D2-6B0A-E1C185E7DCEF}"/>
                </a:ext>
              </a:extLst>
            </p:cNvPr>
            <p:cNvSpPr txBox="1">
              <a:spLocks noChangeArrowheads="1"/>
            </p:cNvSpPr>
            <p:nvPr/>
          </p:nvSpPr>
          <p:spPr bwMode="auto">
            <a:xfrm>
              <a:off x="8009342" y="4602129"/>
              <a:ext cx="1041400" cy="294005"/>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200">
                  <a:effectLst/>
                  <a:latin typeface="Times New Roman" panose="02020603050405020304" pitchFamily="18" charset="0"/>
                  <a:ea typeface="Times New Roman" panose="02020603050405020304" pitchFamily="18" charset="0"/>
                </a:rPr>
                <a:t>Auth Options</a:t>
              </a:r>
            </a:p>
          </p:txBody>
        </p:sp>
        <p:sp>
          <p:nvSpPr>
            <p:cNvPr id="259" name="Text Box 2">
              <a:extLst>
                <a:ext uri="{FF2B5EF4-FFF2-40B4-BE49-F238E27FC236}">
                  <a16:creationId xmlns:a16="http://schemas.microsoft.com/office/drawing/2014/main" id="{B8BF6783-95D2-AD3A-78DD-F508A2299ED3}"/>
                </a:ext>
              </a:extLst>
            </p:cNvPr>
            <p:cNvSpPr txBox="1">
              <a:spLocks noChangeArrowheads="1"/>
            </p:cNvSpPr>
            <p:nvPr/>
          </p:nvSpPr>
          <p:spPr bwMode="auto">
            <a:xfrm>
              <a:off x="6483437" y="3242594"/>
              <a:ext cx="1104900" cy="2540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effectLst/>
                  <a:latin typeface="Times New Roman" panose="02020603050405020304" pitchFamily="18" charset="0"/>
                  <a:ea typeface="Times New Roman" panose="02020603050405020304" pitchFamily="18" charset="0"/>
                </a:rPr>
                <a:t>User Registration</a:t>
              </a:r>
              <a:endParaRPr lang="en-IN" sz="1200">
                <a:effectLst/>
                <a:latin typeface="Times New Roman" panose="02020603050405020304" pitchFamily="18" charset="0"/>
                <a:ea typeface="Times New Roman" panose="02020603050405020304" pitchFamily="18" charset="0"/>
              </a:endParaRPr>
            </a:p>
          </p:txBody>
        </p:sp>
        <p:sp>
          <p:nvSpPr>
            <p:cNvPr id="260" name="Text Box 2">
              <a:extLst>
                <a:ext uri="{FF2B5EF4-FFF2-40B4-BE49-F238E27FC236}">
                  <a16:creationId xmlns:a16="http://schemas.microsoft.com/office/drawing/2014/main" id="{4D450F26-1B83-C1E7-7CD1-1B9DD873C487}"/>
                </a:ext>
              </a:extLst>
            </p:cNvPr>
            <p:cNvSpPr txBox="1">
              <a:spLocks noChangeArrowheads="1"/>
            </p:cNvSpPr>
            <p:nvPr/>
          </p:nvSpPr>
          <p:spPr bwMode="auto">
            <a:xfrm>
              <a:off x="6277697" y="3871244"/>
              <a:ext cx="1104900" cy="2540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effectLst/>
                  <a:latin typeface="Times New Roman" panose="02020603050405020304" pitchFamily="18" charset="0"/>
                  <a:ea typeface="Times New Roman" panose="02020603050405020304" pitchFamily="18" charset="0"/>
                </a:rPr>
                <a:t>Detail Validation</a:t>
              </a:r>
              <a:endParaRPr lang="en-IN" sz="1200">
                <a:effectLst/>
                <a:latin typeface="Times New Roman" panose="02020603050405020304" pitchFamily="18" charset="0"/>
                <a:ea typeface="Times New Roman" panose="02020603050405020304" pitchFamily="18" charset="0"/>
              </a:endParaRPr>
            </a:p>
          </p:txBody>
        </p:sp>
        <p:sp>
          <p:nvSpPr>
            <p:cNvPr id="261" name="Text Box 2">
              <a:extLst>
                <a:ext uri="{FF2B5EF4-FFF2-40B4-BE49-F238E27FC236}">
                  <a16:creationId xmlns:a16="http://schemas.microsoft.com/office/drawing/2014/main" id="{E9BA8556-148B-037E-23EC-2AECB65BF87D}"/>
                </a:ext>
              </a:extLst>
            </p:cNvPr>
            <p:cNvSpPr txBox="1">
              <a:spLocks noChangeArrowheads="1"/>
            </p:cNvSpPr>
            <p:nvPr/>
          </p:nvSpPr>
          <p:spPr bwMode="auto">
            <a:xfrm>
              <a:off x="5802082" y="4452904"/>
              <a:ext cx="1104900" cy="2540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B050"/>
                  </a:solidFill>
                  <a:effectLst/>
                  <a:latin typeface="Times New Roman" panose="02020603050405020304" pitchFamily="18" charset="0"/>
                  <a:ea typeface="Times New Roman" panose="02020603050405020304" pitchFamily="18" charset="0"/>
                </a:rPr>
                <a:t>Success</a:t>
              </a:r>
              <a:endParaRPr lang="en-IN" sz="1200">
                <a:effectLst/>
                <a:latin typeface="Times New Roman" panose="02020603050405020304" pitchFamily="18" charset="0"/>
                <a:ea typeface="Times New Roman" panose="02020603050405020304" pitchFamily="18" charset="0"/>
              </a:endParaRPr>
            </a:p>
          </p:txBody>
        </p:sp>
        <p:sp>
          <p:nvSpPr>
            <p:cNvPr id="262" name="Text Box 2">
              <a:extLst>
                <a:ext uri="{FF2B5EF4-FFF2-40B4-BE49-F238E27FC236}">
                  <a16:creationId xmlns:a16="http://schemas.microsoft.com/office/drawing/2014/main" id="{FCFC7251-B9CA-76E5-CA7F-1AB1098DA36D}"/>
                </a:ext>
              </a:extLst>
            </p:cNvPr>
            <p:cNvSpPr txBox="1">
              <a:spLocks noChangeArrowheads="1"/>
            </p:cNvSpPr>
            <p:nvPr/>
          </p:nvSpPr>
          <p:spPr bwMode="auto">
            <a:xfrm>
              <a:off x="6587577" y="4921534"/>
              <a:ext cx="1104900" cy="2540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FF0000"/>
                  </a:solidFill>
                  <a:effectLst/>
                  <a:latin typeface="Times New Roman" panose="02020603050405020304" pitchFamily="18" charset="0"/>
                  <a:ea typeface="Times New Roman" panose="02020603050405020304" pitchFamily="18" charset="0"/>
                </a:rPr>
                <a:t>Failure</a:t>
              </a:r>
              <a:endParaRPr lang="en-IN" sz="1200">
                <a:effectLst/>
                <a:latin typeface="Times New Roman" panose="02020603050405020304" pitchFamily="18" charset="0"/>
                <a:ea typeface="Times New Roman" panose="02020603050405020304" pitchFamily="18" charset="0"/>
              </a:endParaRPr>
            </a:p>
          </p:txBody>
        </p:sp>
        <p:cxnSp>
          <p:nvCxnSpPr>
            <p:cNvPr id="263" name="Straight Arrow Connector 262">
              <a:extLst>
                <a:ext uri="{FF2B5EF4-FFF2-40B4-BE49-F238E27FC236}">
                  <a16:creationId xmlns:a16="http://schemas.microsoft.com/office/drawing/2014/main" id="{D1E3B1EB-2122-DEC3-F32B-C0734F4BF65A}"/>
                </a:ext>
              </a:extLst>
            </p:cNvPr>
            <p:cNvCxnSpPr>
              <a:cxnSpLocks/>
            </p:cNvCxnSpPr>
            <p:nvPr/>
          </p:nvCxnSpPr>
          <p:spPr>
            <a:xfrm>
              <a:off x="6729817" y="3513104"/>
              <a:ext cx="0" cy="3492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9B835557-0573-DF46-B795-FEF6D53D2D5E}"/>
                </a:ext>
              </a:extLst>
            </p:cNvPr>
            <p:cNvCxnSpPr>
              <a:cxnSpLocks/>
            </p:cNvCxnSpPr>
            <p:nvPr/>
          </p:nvCxnSpPr>
          <p:spPr>
            <a:xfrm>
              <a:off x="6459307" y="4141119"/>
              <a:ext cx="0" cy="3257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5" name="Straight Arrow Connector 264">
              <a:extLst>
                <a:ext uri="{FF2B5EF4-FFF2-40B4-BE49-F238E27FC236}">
                  <a16:creationId xmlns:a16="http://schemas.microsoft.com/office/drawing/2014/main" id="{0A046F09-AB1C-5980-4ED9-826EB64BE0A9}"/>
                </a:ext>
              </a:extLst>
            </p:cNvPr>
            <p:cNvCxnSpPr>
              <a:cxnSpLocks/>
            </p:cNvCxnSpPr>
            <p:nvPr/>
          </p:nvCxnSpPr>
          <p:spPr>
            <a:xfrm flipH="1">
              <a:off x="5504902" y="4578634"/>
              <a:ext cx="294005"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6" name="Text Box 2">
              <a:extLst>
                <a:ext uri="{FF2B5EF4-FFF2-40B4-BE49-F238E27FC236}">
                  <a16:creationId xmlns:a16="http://schemas.microsoft.com/office/drawing/2014/main" id="{F815333A-5285-FC2D-BB64-982905C5EFA1}"/>
                </a:ext>
              </a:extLst>
            </p:cNvPr>
            <p:cNvSpPr txBox="1">
              <a:spLocks noChangeArrowheads="1"/>
            </p:cNvSpPr>
            <p:nvPr/>
          </p:nvSpPr>
          <p:spPr bwMode="auto">
            <a:xfrm>
              <a:off x="3563072" y="4955824"/>
              <a:ext cx="882650" cy="2413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B050"/>
                  </a:solidFill>
                  <a:effectLst/>
                  <a:latin typeface="Times New Roman" panose="02020603050405020304" pitchFamily="18" charset="0"/>
                  <a:ea typeface="Times New Roman" panose="02020603050405020304" pitchFamily="18" charset="0"/>
                </a:rPr>
                <a:t>Auth Success</a:t>
              </a:r>
              <a:endParaRPr lang="en-IN" sz="1200">
                <a:effectLst/>
                <a:latin typeface="Times New Roman" panose="02020603050405020304" pitchFamily="18" charset="0"/>
                <a:ea typeface="Times New Roman" panose="02020603050405020304" pitchFamily="18" charset="0"/>
              </a:endParaRPr>
            </a:p>
          </p:txBody>
        </p:sp>
        <p:sp>
          <p:nvSpPr>
            <p:cNvPr id="267" name="Text Box 2">
              <a:extLst>
                <a:ext uri="{FF2B5EF4-FFF2-40B4-BE49-F238E27FC236}">
                  <a16:creationId xmlns:a16="http://schemas.microsoft.com/office/drawing/2014/main" id="{9ADC5444-395B-8D36-60D1-E85E986B975D}"/>
                </a:ext>
              </a:extLst>
            </p:cNvPr>
            <p:cNvSpPr txBox="1">
              <a:spLocks noChangeArrowheads="1"/>
            </p:cNvSpPr>
            <p:nvPr/>
          </p:nvSpPr>
          <p:spPr bwMode="auto">
            <a:xfrm>
              <a:off x="4616537" y="4797074"/>
              <a:ext cx="841375" cy="2476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FF0000"/>
                  </a:solidFill>
                  <a:effectLst/>
                  <a:latin typeface="Times New Roman" panose="02020603050405020304" pitchFamily="18" charset="0"/>
                  <a:ea typeface="Times New Roman" panose="02020603050405020304" pitchFamily="18" charset="0"/>
                </a:rPr>
                <a:t>Auth Failure</a:t>
              </a:r>
              <a:endParaRPr lang="en-IN" sz="1200">
                <a:effectLst/>
                <a:latin typeface="Times New Roman" panose="02020603050405020304" pitchFamily="18" charset="0"/>
                <a:ea typeface="Times New Roman" panose="02020603050405020304" pitchFamily="18" charset="0"/>
              </a:endParaRPr>
            </a:p>
          </p:txBody>
        </p:sp>
        <p:sp>
          <p:nvSpPr>
            <p:cNvPr id="268" name="Text Box 2">
              <a:extLst>
                <a:ext uri="{FF2B5EF4-FFF2-40B4-BE49-F238E27FC236}">
                  <a16:creationId xmlns:a16="http://schemas.microsoft.com/office/drawing/2014/main" id="{9D7A4D3A-D842-F238-3ED8-5D47E0ED8A6E}"/>
                </a:ext>
              </a:extLst>
            </p:cNvPr>
            <p:cNvSpPr txBox="1">
              <a:spLocks noChangeArrowheads="1"/>
            </p:cNvSpPr>
            <p:nvPr/>
          </p:nvSpPr>
          <p:spPr bwMode="auto">
            <a:xfrm>
              <a:off x="3728172" y="4301774"/>
              <a:ext cx="1130300" cy="2667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Credential Input</a:t>
              </a:r>
              <a:endParaRPr lang="en-IN" sz="1200">
                <a:effectLst/>
                <a:latin typeface="Times New Roman" panose="02020603050405020304" pitchFamily="18" charset="0"/>
                <a:ea typeface="Times New Roman" panose="02020603050405020304" pitchFamily="18" charset="0"/>
              </a:endParaRPr>
            </a:p>
          </p:txBody>
        </p:sp>
        <p:cxnSp>
          <p:nvCxnSpPr>
            <p:cNvPr id="269" name="Straight Arrow Connector 268">
              <a:extLst>
                <a:ext uri="{FF2B5EF4-FFF2-40B4-BE49-F238E27FC236}">
                  <a16:creationId xmlns:a16="http://schemas.microsoft.com/office/drawing/2014/main" id="{777804FE-2E2D-EE48-7293-8730FC736AA0}"/>
                </a:ext>
              </a:extLst>
            </p:cNvPr>
            <p:cNvCxnSpPr>
              <a:cxnSpLocks/>
            </p:cNvCxnSpPr>
            <p:nvPr/>
          </p:nvCxnSpPr>
          <p:spPr>
            <a:xfrm>
              <a:off x="4003762" y="4569109"/>
              <a:ext cx="0" cy="3981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0" name="Connector: Elbow 269">
              <a:extLst>
                <a:ext uri="{FF2B5EF4-FFF2-40B4-BE49-F238E27FC236}">
                  <a16:creationId xmlns:a16="http://schemas.microsoft.com/office/drawing/2014/main" id="{008EF7C6-1D9D-1ED8-CD4B-41E9375DDE93}"/>
                </a:ext>
              </a:extLst>
            </p:cNvPr>
            <p:cNvCxnSpPr>
              <a:cxnSpLocks/>
            </p:cNvCxnSpPr>
            <p:nvPr/>
          </p:nvCxnSpPr>
          <p:spPr>
            <a:xfrm flipH="1" flipV="1">
              <a:off x="4855297" y="4437029"/>
              <a:ext cx="586740" cy="3575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71" name="Straight Arrow Connector 270">
              <a:extLst>
                <a:ext uri="{FF2B5EF4-FFF2-40B4-BE49-F238E27FC236}">
                  <a16:creationId xmlns:a16="http://schemas.microsoft.com/office/drawing/2014/main" id="{ED04F33B-9062-0E8E-0B1E-FAC5B8000F4B}"/>
                </a:ext>
              </a:extLst>
            </p:cNvPr>
            <p:cNvCxnSpPr>
              <a:cxnSpLocks/>
            </p:cNvCxnSpPr>
            <p:nvPr/>
          </p:nvCxnSpPr>
          <p:spPr>
            <a:xfrm flipV="1">
              <a:off x="7498167" y="3461034"/>
              <a:ext cx="8890" cy="1457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72" name="Rectangle 271">
            <a:extLst>
              <a:ext uri="{FF2B5EF4-FFF2-40B4-BE49-F238E27FC236}">
                <a16:creationId xmlns:a16="http://schemas.microsoft.com/office/drawing/2014/main" id="{B9B00B6A-556C-C29D-C5C9-50D2291F8DF2}"/>
              </a:ext>
            </a:extLst>
          </p:cNvPr>
          <p:cNvSpPr/>
          <p:nvPr/>
        </p:nvSpPr>
        <p:spPr>
          <a:xfrm>
            <a:off x="796253" y="683500"/>
            <a:ext cx="4132863" cy="1077218"/>
          </a:xfrm>
          <a:prstGeom prst="rect">
            <a:avLst/>
          </a:prstGeom>
          <a:noFill/>
        </p:spPr>
        <p:txBody>
          <a:bodyPr wrap="none" lIns="91440" tIns="45720" rIns="91440" bIns="45720">
            <a:spAutoFit/>
          </a:bodyPr>
          <a:lstStyle/>
          <a:p>
            <a:r>
              <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System Design:</a:t>
            </a:r>
          </a:p>
          <a:p>
            <a:r>
              <a:rPr lang="en-US" sz="2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Home Page</a:t>
            </a:r>
            <a:endParaRPr lang="en-US" sz="2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280" name="Rectangle 279">
            <a:extLst>
              <a:ext uri="{FF2B5EF4-FFF2-40B4-BE49-F238E27FC236}">
                <a16:creationId xmlns:a16="http://schemas.microsoft.com/office/drawing/2014/main" id="{F140C673-C9E9-D82B-F568-32FD9F12C385}"/>
              </a:ext>
            </a:extLst>
          </p:cNvPr>
          <p:cNvSpPr/>
          <p:nvPr/>
        </p:nvSpPr>
        <p:spPr>
          <a:xfrm>
            <a:off x="10434471" y="346545"/>
            <a:ext cx="707245"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12</a:t>
            </a:r>
          </a:p>
        </p:txBody>
      </p:sp>
    </p:spTree>
    <p:extLst>
      <p:ext uri="{BB962C8B-B14F-4D97-AF65-F5344CB8AC3E}">
        <p14:creationId xmlns:p14="http://schemas.microsoft.com/office/powerpoint/2010/main" val="4216333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D2C2-ADDA-CAAA-E9D2-468356FC42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DD176E-77BA-5A80-A8A6-65AE09213A25}"/>
              </a:ext>
            </a:extLst>
          </p:cNvPr>
          <p:cNvSpPr/>
          <p:nvPr/>
        </p:nvSpPr>
        <p:spPr>
          <a:xfrm>
            <a:off x="834328" y="703430"/>
            <a:ext cx="4132863" cy="1077218"/>
          </a:xfrm>
          <a:prstGeom prst="rect">
            <a:avLst/>
          </a:prstGeom>
          <a:noFill/>
        </p:spPr>
        <p:txBody>
          <a:bodyPr wrap="none" lIns="91440" tIns="45720" rIns="91440" bIns="45720">
            <a:spAutoFit/>
          </a:bodyPr>
          <a:lstStyle/>
          <a:p>
            <a:r>
              <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System Design:</a:t>
            </a:r>
          </a:p>
          <a:p>
            <a:r>
              <a:rPr lang="en-US" sz="2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Classification Process</a:t>
            </a:r>
            <a:endParaRPr lang="en-US" sz="2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grpSp>
        <p:nvGrpSpPr>
          <p:cNvPr id="16" name="Group 15">
            <a:extLst>
              <a:ext uri="{FF2B5EF4-FFF2-40B4-BE49-F238E27FC236}">
                <a16:creationId xmlns:a16="http://schemas.microsoft.com/office/drawing/2014/main" id="{B0ED4F30-B037-DFFD-6698-2CF5CDAD7677}"/>
              </a:ext>
            </a:extLst>
          </p:cNvPr>
          <p:cNvGrpSpPr/>
          <p:nvPr/>
        </p:nvGrpSpPr>
        <p:grpSpPr>
          <a:xfrm>
            <a:off x="616165" y="2723979"/>
            <a:ext cx="3184382" cy="3310177"/>
            <a:chOff x="4028076" y="1612155"/>
            <a:chExt cx="1670050" cy="4040209"/>
          </a:xfrm>
        </p:grpSpPr>
        <p:sp>
          <p:nvSpPr>
            <p:cNvPr id="3" name="Rectangle 2">
              <a:extLst>
                <a:ext uri="{FF2B5EF4-FFF2-40B4-BE49-F238E27FC236}">
                  <a16:creationId xmlns:a16="http://schemas.microsoft.com/office/drawing/2014/main" id="{1B90D0A3-F35A-56A4-1353-7A4FAD0BDB61}"/>
                </a:ext>
              </a:extLst>
            </p:cNvPr>
            <p:cNvSpPr/>
            <p:nvPr/>
          </p:nvSpPr>
          <p:spPr>
            <a:xfrm>
              <a:off x="4028076" y="1612155"/>
              <a:ext cx="1670050" cy="40402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dirty="0">
                  <a:solidFill>
                    <a:srgbClr val="000000"/>
                  </a:solidFill>
                  <a:effectLst/>
                  <a:latin typeface="Times New Roman" panose="02020603050405020304" pitchFamily="18" charset="0"/>
                  <a:ea typeface="Times New Roman" panose="02020603050405020304" pitchFamily="18" charset="0"/>
                </a:rPr>
                <a:t>Upload Page</a:t>
              </a:r>
              <a:endParaRPr lang="en-IN" sz="1200" dirty="0">
                <a:effectLst/>
                <a:latin typeface="Times New Roman" panose="02020603050405020304" pitchFamily="18" charset="0"/>
                <a:ea typeface="Times New Roman" panose="02020603050405020304" pitchFamily="18" charset="0"/>
              </a:endParaRPr>
            </a:p>
          </p:txBody>
        </p:sp>
        <p:sp>
          <p:nvSpPr>
            <p:cNvPr id="4" name="Text Box 2">
              <a:extLst>
                <a:ext uri="{FF2B5EF4-FFF2-40B4-BE49-F238E27FC236}">
                  <a16:creationId xmlns:a16="http://schemas.microsoft.com/office/drawing/2014/main" id="{CE92C50A-EEA9-7F1B-1F8A-F4D5E55DB320}"/>
                </a:ext>
              </a:extLst>
            </p:cNvPr>
            <p:cNvSpPr txBox="1">
              <a:spLocks noChangeArrowheads="1"/>
            </p:cNvSpPr>
            <p:nvPr/>
          </p:nvSpPr>
          <p:spPr bwMode="auto">
            <a:xfrm>
              <a:off x="4195081" y="2105550"/>
              <a:ext cx="1130300" cy="4254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Reference Image Upload</a:t>
              </a:r>
              <a:endParaRPr lang="en-IN" sz="1200">
                <a:effectLst/>
                <a:latin typeface="Times New Roman" panose="02020603050405020304" pitchFamily="18" charset="0"/>
                <a:ea typeface="Times New Roman" panose="02020603050405020304" pitchFamily="18" charset="0"/>
              </a:endParaRPr>
            </a:p>
          </p:txBody>
        </p:sp>
        <p:sp>
          <p:nvSpPr>
            <p:cNvPr id="5" name="Text Box 2">
              <a:extLst>
                <a:ext uri="{FF2B5EF4-FFF2-40B4-BE49-F238E27FC236}">
                  <a16:creationId xmlns:a16="http://schemas.microsoft.com/office/drawing/2014/main" id="{14184EA7-EEF4-C437-A37F-45BAF61FB0A2}"/>
                </a:ext>
              </a:extLst>
            </p:cNvPr>
            <p:cNvSpPr txBox="1">
              <a:spLocks noChangeArrowheads="1"/>
            </p:cNvSpPr>
            <p:nvPr/>
          </p:nvSpPr>
          <p:spPr bwMode="auto">
            <a:xfrm>
              <a:off x="4468131" y="2677050"/>
              <a:ext cx="1130300" cy="4254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dirty="0">
                  <a:solidFill>
                    <a:srgbClr val="000000"/>
                  </a:solidFill>
                  <a:effectLst/>
                  <a:latin typeface="Times New Roman" panose="02020603050405020304" pitchFamily="18" charset="0"/>
                  <a:ea typeface="Times New Roman" panose="02020603050405020304" pitchFamily="18" charset="0"/>
                </a:rPr>
                <a:t>Image Cluster Upload</a:t>
              </a:r>
              <a:endParaRPr lang="en-IN" sz="1200" dirty="0">
                <a:effectLst/>
                <a:latin typeface="Times New Roman" panose="02020603050405020304" pitchFamily="18" charset="0"/>
                <a:ea typeface="Times New Roman" panose="02020603050405020304" pitchFamily="18" charset="0"/>
              </a:endParaRPr>
            </a:p>
          </p:txBody>
        </p:sp>
        <p:sp>
          <p:nvSpPr>
            <p:cNvPr id="6" name="Text Box 2">
              <a:extLst>
                <a:ext uri="{FF2B5EF4-FFF2-40B4-BE49-F238E27FC236}">
                  <a16:creationId xmlns:a16="http://schemas.microsoft.com/office/drawing/2014/main" id="{49880487-1A5B-55B8-108B-6DABCF1EA792}"/>
                </a:ext>
              </a:extLst>
            </p:cNvPr>
            <p:cNvSpPr txBox="1">
              <a:spLocks noChangeArrowheads="1"/>
            </p:cNvSpPr>
            <p:nvPr/>
          </p:nvSpPr>
          <p:spPr bwMode="auto">
            <a:xfrm>
              <a:off x="4518931" y="3705750"/>
              <a:ext cx="1041400" cy="2857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Validation</a:t>
              </a:r>
              <a:endParaRPr lang="en-IN" sz="1200">
                <a:effectLst/>
                <a:latin typeface="Times New Roman" panose="02020603050405020304" pitchFamily="18" charset="0"/>
                <a:ea typeface="Times New Roman" panose="02020603050405020304" pitchFamily="18" charset="0"/>
              </a:endParaRPr>
            </a:p>
          </p:txBody>
        </p:sp>
        <p:sp>
          <p:nvSpPr>
            <p:cNvPr id="7" name="Text Box 2">
              <a:extLst>
                <a:ext uri="{FF2B5EF4-FFF2-40B4-BE49-F238E27FC236}">
                  <a16:creationId xmlns:a16="http://schemas.microsoft.com/office/drawing/2014/main" id="{ACC9A974-69E2-75BE-711A-A41032A2EAE2}"/>
                </a:ext>
              </a:extLst>
            </p:cNvPr>
            <p:cNvSpPr txBox="1">
              <a:spLocks noChangeArrowheads="1"/>
            </p:cNvSpPr>
            <p:nvPr/>
          </p:nvSpPr>
          <p:spPr bwMode="auto">
            <a:xfrm>
              <a:off x="4150631" y="4569350"/>
              <a:ext cx="1041400" cy="2857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Upload Error</a:t>
              </a:r>
              <a:endParaRPr lang="en-IN" sz="1200">
                <a:effectLst/>
                <a:latin typeface="Times New Roman" panose="02020603050405020304" pitchFamily="18" charset="0"/>
                <a:ea typeface="Times New Roman" panose="02020603050405020304" pitchFamily="18" charset="0"/>
              </a:endParaRPr>
            </a:p>
          </p:txBody>
        </p:sp>
        <p:sp>
          <p:nvSpPr>
            <p:cNvPr id="8" name="Text Box 2">
              <a:extLst>
                <a:ext uri="{FF2B5EF4-FFF2-40B4-BE49-F238E27FC236}">
                  <a16:creationId xmlns:a16="http://schemas.microsoft.com/office/drawing/2014/main" id="{5BF467B0-B7BF-A369-F4E3-F0DC860B7D9C}"/>
                </a:ext>
              </a:extLst>
            </p:cNvPr>
            <p:cNvSpPr txBox="1">
              <a:spLocks noChangeArrowheads="1"/>
            </p:cNvSpPr>
            <p:nvPr/>
          </p:nvSpPr>
          <p:spPr bwMode="auto">
            <a:xfrm>
              <a:off x="4537981" y="5147200"/>
              <a:ext cx="1041400" cy="2857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Processing State</a:t>
              </a:r>
              <a:endParaRPr lang="en-IN" sz="1200">
                <a:effectLst/>
                <a:latin typeface="Times New Roman" panose="02020603050405020304" pitchFamily="18" charset="0"/>
                <a:ea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873920C3-DE79-0AC6-B854-607723215FAA}"/>
                </a:ext>
              </a:extLst>
            </p:cNvPr>
            <p:cNvCxnSpPr/>
            <p:nvPr/>
          </p:nvCxnSpPr>
          <p:spPr>
            <a:xfrm flipV="1">
              <a:off x="4226831" y="2511950"/>
              <a:ext cx="19050" cy="2051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9645EC7-9764-5138-7356-C04E1B78ECCB}"/>
                </a:ext>
              </a:extLst>
            </p:cNvPr>
            <p:cNvCxnSpPr/>
            <p:nvPr/>
          </p:nvCxnSpPr>
          <p:spPr>
            <a:xfrm flipH="1">
              <a:off x="4703081" y="3115200"/>
              <a:ext cx="6350" cy="5778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564F1AD0-C1B2-5C2C-3515-FC90E9C4EEE8}"/>
                </a:ext>
              </a:extLst>
            </p:cNvPr>
            <p:cNvCxnSpPr/>
            <p:nvPr/>
          </p:nvCxnSpPr>
          <p:spPr>
            <a:xfrm>
              <a:off x="5096781" y="3991500"/>
              <a:ext cx="368300" cy="1162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340180F0-53E3-2453-D696-8862CD003158}"/>
                </a:ext>
              </a:extLst>
            </p:cNvPr>
            <p:cNvCxnSpPr/>
            <p:nvPr/>
          </p:nvCxnSpPr>
          <p:spPr>
            <a:xfrm flipH="1">
              <a:off x="4728481" y="3991500"/>
              <a:ext cx="374650" cy="584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Elbow 12">
              <a:extLst>
                <a:ext uri="{FF2B5EF4-FFF2-40B4-BE49-F238E27FC236}">
                  <a16:creationId xmlns:a16="http://schemas.microsoft.com/office/drawing/2014/main" id="{731BAA1B-4A9D-3718-9C3B-EFB0E31A4D29}"/>
                </a:ext>
              </a:extLst>
            </p:cNvPr>
            <p:cNvCxnSpPr/>
            <p:nvPr/>
          </p:nvCxnSpPr>
          <p:spPr>
            <a:xfrm flipV="1">
              <a:off x="4245881" y="2886600"/>
              <a:ext cx="241300" cy="168275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2">
              <a:extLst>
                <a:ext uri="{FF2B5EF4-FFF2-40B4-BE49-F238E27FC236}">
                  <a16:creationId xmlns:a16="http://schemas.microsoft.com/office/drawing/2014/main" id="{F0492792-B52A-95BD-AA83-6E46670AC167}"/>
                </a:ext>
              </a:extLst>
            </p:cNvPr>
            <p:cNvSpPr txBox="1">
              <a:spLocks noChangeArrowheads="1"/>
            </p:cNvSpPr>
            <p:nvPr/>
          </p:nvSpPr>
          <p:spPr bwMode="auto">
            <a:xfrm>
              <a:off x="4478291" y="4143265"/>
              <a:ext cx="520700" cy="211455"/>
            </a:xfrm>
            <a:prstGeom prst="rect">
              <a:avLst/>
            </a:prstGeom>
            <a:noFill/>
            <a:ln w="9525">
              <a:noFill/>
              <a:miter lim="800000"/>
              <a:headEnd/>
              <a:tailEnd/>
            </a:ln>
          </p:spPr>
          <p:txBody>
            <a:bodyPr rot="0" vert="horz" wrap="square" lIns="91440" tIns="45720" rIns="91440" bIns="45720" anchor="t" anchorCtr="0">
              <a:noAutofit/>
            </a:bodyPr>
            <a:lstStyle/>
            <a:p>
              <a:pPr algn="ctr"/>
              <a:r>
                <a:rPr lang="en-IN" sz="800">
                  <a:solidFill>
                    <a:srgbClr val="FF0000"/>
                  </a:solidFill>
                  <a:effectLst/>
                  <a:latin typeface="Times New Roman" panose="02020603050405020304" pitchFamily="18" charset="0"/>
                  <a:ea typeface="Times New Roman" panose="02020603050405020304" pitchFamily="18" charset="0"/>
                </a:rPr>
                <a:t>Invalid</a:t>
              </a:r>
              <a:endParaRPr lang="en-IN" sz="1200">
                <a:effectLst/>
                <a:latin typeface="Times New Roman" panose="02020603050405020304" pitchFamily="18" charset="0"/>
                <a:ea typeface="Times New Roman" panose="02020603050405020304" pitchFamily="18" charset="0"/>
              </a:endParaRPr>
            </a:p>
          </p:txBody>
        </p:sp>
        <p:sp>
          <p:nvSpPr>
            <p:cNvPr id="15" name="Text Box 2">
              <a:extLst>
                <a:ext uri="{FF2B5EF4-FFF2-40B4-BE49-F238E27FC236}">
                  <a16:creationId xmlns:a16="http://schemas.microsoft.com/office/drawing/2014/main" id="{B062EF93-D0FA-2F81-D353-05ECEF8D21C0}"/>
                </a:ext>
              </a:extLst>
            </p:cNvPr>
            <p:cNvSpPr txBox="1">
              <a:spLocks noChangeArrowheads="1"/>
            </p:cNvSpPr>
            <p:nvPr/>
          </p:nvSpPr>
          <p:spPr bwMode="auto">
            <a:xfrm>
              <a:off x="5181236" y="4371865"/>
              <a:ext cx="448310" cy="211455"/>
            </a:xfrm>
            <a:prstGeom prst="rect">
              <a:avLst/>
            </a:prstGeom>
            <a:noFill/>
            <a:ln w="9525">
              <a:noFill/>
              <a:miter lim="800000"/>
              <a:headEnd/>
              <a:tailEnd/>
            </a:ln>
          </p:spPr>
          <p:txBody>
            <a:bodyPr rot="0" vert="horz" wrap="square" lIns="91440" tIns="45720" rIns="91440" bIns="45720" anchor="t" anchorCtr="0">
              <a:noAutofit/>
            </a:bodyPr>
            <a:lstStyle/>
            <a:p>
              <a:pPr algn="ctr"/>
              <a:r>
                <a:rPr lang="en-IN" sz="800">
                  <a:solidFill>
                    <a:srgbClr val="00B050"/>
                  </a:solidFill>
                  <a:effectLst/>
                  <a:latin typeface="Times New Roman" panose="02020603050405020304" pitchFamily="18" charset="0"/>
                  <a:ea typeface="Times New Roman" panose="02020603050405020304" pitchFamily="18" charset="0"/>
                </a:rPr>
                <a:t>Valid</a:t>
              </a:r>
              <a:endParaRPr lang="en-IN" sz="1200">
                <a:effectLst/>
                <a:latin typeface="Times New Roman" panose="02020603050405020304" pitchFamily="18" charset="0"/>
                <a:ea typeface="Times New Roman" panose="02020603050405020304" pitchFamily="18" charset="0"/>
              </a:endParaRPr>
            </a:p>
          </p:txBody>
        </p:sp>
      </p:grpSp>
      <p:grpSp>
        <p:nvGrpSpPr>
          <p:cNvPr id="32" name="Group 31">
            <a:extLst>
              <a:ext uri="{FF2B5EF4-FFF2-40B4-BE49-F238E27FC236}">
                <a16:creationId xmlns:a16="http://schemas.microsoft.com/office/drawing/2014/main" id="{405570BD-3F6E-904F-ED83-9C67F0A325B0}"/>
              </a:ext>
            </a:extLst>
          </p:cNvPr>
          <p:cNvGrpSpPr/>
          <p:nvPr/>
        </p:nvGrpSpPr>
        <p:grpSpPr>
          <a:xfrm>
            <a:off x="4639625" y="2460444"/>
            <a:ext cx="3352843" cy="4191786"/>
            <a:chOff x="5260975" y="969010"/>
            <a:chExt cx="1670050" cy="4919980"/>
          </a:xfrm>
        </p:grpSpPr>
        <p:sp>
          <p:nvSpPr>
            <p:cNvPr id="17" name="Rectangle 16">
              <a:extLst>
                <a:ext uri="{FF2B5EF4-FFF2-40B4-BE49-F238E27FC236}">
                  <a16:creationId xmlns:a16="http://schemas.microsoft.com/office/drawing/2014/main" id="{3B8EB0B9-947D-42B7-5356-93351C1FF397}"/>
                </a:ext>
              </a:extLst>
            </p:cNvPr>
            <p:cNvSpPr/>
            <p:nvPr/>
          </p:nvSpPr>
          <p:spPr>
            <a:xfrm>
              <a:off x="5260975" y="969010"/>
              <a:ext cx="1670050" cy="49199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Processing State</a:t>
              </a:r>
              <a:endParaRPr lang="en-IN" sz="1200">
                <a:effectLst/>
                <a:latin typeface="Times New Roman" panose="02020603050405020304" pitchFamily="18" charset="0"/>
                <a:ea typeface="Times New Roman" panose="02020603050405020304" pitchFamily="18" charset="0"/>
              </a:endParaRPr>
            </a:p>
            <a:p>
              <a:pPr algn="ctr"/>
              <a:r>
                <a:rPr lang="en-IN" sz="1200">
                  <a:solidFill>
                    <a:srgbClr val="000000"/>
                  </a:solidFill>
                  <a:effectLst/>
                  <a:latin typeface="Times New Roman" panose="02020603050405020304" pitchFamily="18" charset="0"/>
                  <a:ea typeface="Times New Roman" panose="02020603050405020304" pitchFamily="18" charset="0"/>
                </a:rPr>
                <a:t>(Backend Py Model)</a:t>
              </a:r>
              <a:endParaRPr lang="en-IN" sz="1200">
                <a:effectLst/>
                <a:latin typeface="Times New Roman" panose="02020603050405020304" pitchFamily="18" charset="0"/>
                <a:ea typeface="Times New Roman" panose="02020603050405020304" pitchFamily="18" charset="0"/>
              </a:endParaRPr>
            </a:p>
          </p:txBody>
        </p:sp>
        <p:sp>
          <p:nvSpPr>
            <p:cNvPr id="18" name="Text Box 2">
              <a:extLst>
                <a:ext uri="{FF2B5EF4-FFF2-40B4-BE49-F238E27FC236}">
                  <a16:creationId xmlns:a16="http://schemas.microsoft.com/office/drawing/2014/main" id="{2A000DB6-DB1D-D843-6927-5617747F5631}"/>
                </a:ext>
              </a:extLst>
            </p:cNvPr>
            <p:cNvSpPr txBox="1">
              <a:spLocks noChangeArrowheads="1"/>
            </p:cNvSpPr>
            <p:nvPr/>
          </p:nvSpPr>
          <p:spPr bwMode="auto">
            <a:xfrm>
              <a:off x="5534025" y="1911350"/>
              <a:ext cx="1130300" cy="4254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Backend Submission</a:t>
              </a:r>
              <a:endParaRPr lang="en-IN" sz="1200">
                <a:effectLst/>
                <a:latin typeface="Times New Roman" panose="02020603050405020304" pitchFamily="18" charset="0"/>
                <a:ea typeface="Times New Roman" panose="02020603050405020304" pitchFamily="18" charset="0"/>
              </a:endParaRPr>
            </a:p>
          </p:txBody>
        </p:sp>
        <p:sp>
          <p:nvSpPr>
            <p:cNvPr id="19" name="Text Box 2">
              <a:extLst>
                <a:ext uri="{FF2B5EF4-FFF2-40B4-BE49-F238E27FC236}">
                  <a16:creationId xmlns:a16="http://schemas.microsoft.com/office/drawing/2014/main" id="{89FB6F15-965C-7B43-CB98-3FE93548F774}"/>
                </a:ext>
              </a:extLst>
            </p:cNvPr>
            <p:cNvSpPr txBox="1">
              <a:spLocks noChangeArrowheads="1"/>
            </p:cNvSpPr>
            <p:nvPr/>
          </p:nvSpPr>
          <p:spPr bwMode="auto">
            <a:xfrm>
              <a:off x="5549900" y="2667000"/>
              <a:ext cx="1130300" cy="25400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Image Processing</a:t>
              </a:r>
              <a:endParaRPr lang="en-IN" sz="1200">
                <a:effectLst/>
                <a:latin typeface="Times New Roman" panose="02020603050405020304" pitchFamily="18" charset="0"/>
                <a:ea typeface="Times New Roman" panose="02020603050405020304" pitchFamily="18" charset="0"/>
              </a:endParaRPr>
            </a:p>
          </p:txBody>
        </p:sp>
        <p:sp>
          <p:nvSpPr>
            <p:cNvPr id="20" name="Text Box 2">
              <a:extLst>
                <a:ext uri="{FF2B5EF4-FFF2-40B4-BE49-F238E27FC236}">
                  <a16:creationId xmlns:a16="http://schemas.microsoft.com/office/drawing/2014/main" id="{689229B5-AEA0-61E4-53D9-6D65B1AC389A}"/>
                </a:ext>
              </a:extLst>
            </p:cNvPr>
            <p:cNvSpPr txBox="1">
              <a:spLocks noChangeArrowheads="1"/>
            </p:cNvSpPr>
            <p:nvPr/>
          </p:nvSpPr>
          <p:spPr bwMode="auto">
            <a:xfrm>
              <a:off x="5549900" y="3219450"/>
              <a:ext cx="1130300" cy="2476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Face Detection</a:t>
              </a:r>
              <a:endParaRPr lang="en-IN" sz="1200">
                <a:effectLst/>
                <a:latin typeface="Times New Roman" panose="02020603050405020304" pitchFamily="18" charset="0"/>
                <a:ea typeface="Times New Roman" panose="02020603050405020304" pitchFamily="18" charset="0"/>
              </a:endParaRPr>
            </a:p>
          </p:txBody>
        </p:sp>
        <p:sp>
          <p:nvSpPr>
            <p:cNvPr id="21" name="Text Box 2">
              <a:extLst>
                <a:ext uri="{FF2B5EF4-FFF2-40B4-BE49-F238E27FC236}">
                  <a16:creationId xmlns:a16="http://schemas.microsoft.com/office/drawing/2014/main" id="{7DFEE09D-D530-0769-0E53-D3AAD176377D}"/>
                </a:ext>
              </a:extLst>
            </p:cNvPr>
            <p:cNvSpPr txBox="1">
              <a:spLocks noChangeArrowheads="1"/>
            </p:cNvSpPr>
            <p:nvPr/>
          </p:nvSpPr>
          <p:spPr bwMode="auto">
            <a:xfrm>
              <a:off x="5543550" y="3855720"/>
              <a:ext cx="1130300" cy="4254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Cluster Generation</a:t>
              </a:r>
              <a:endParaRPr lang="en-IN" sz="1200">
                <a:effectLst/>
                <a:latin typeface="Times New Roman" panose="02020603050405020304" pitchFamily="18" charset="0"/>
                <a:ea typeface="Times New Roman" panose="02020603050405020304" pitchFamily="18" charset="0"/>
              </a:endParaRPr>
            </a:p>
          </p:txBody>
        </p:sp>
        <p:sp>
          <p:nvSpPr>
            <p:cNvPr id="22" name="Text Box 2">
              <a:extLst>
                <a:ext uri="{FF2B5EF4-FFF2-40B4-BE49-F238E27FC236}">
                  <a16:creationId xmlns:a16="http://schemas.microsoft.com/office/drawing/2014/main" id="{946A4099-9FFB-7C34-7E05-543DA5253F47}"/>
                </a:ext>
              </a:extLst>
            </p:cNvPr>
            <p:cNvSpPr txBox="1">
              <a:spLocks noChangeArrowheads="1"/>
            </p:cNvSpPr>
            <p:nvPr/>
          </p:nvSpPr>
          <p:spPr bwMode="auto">
            <a:xfrm>
              <a:off x="5537200" y="4679950"/>
              <a:ext cx="1130300" cy="425450"/>
            </a:xfrm>
            <a:prstGeom prst="rect">
              <a:avLst/>
            </a:prstGeom>
            <a:noFill/>
            <a:ln w="9525">
              <a:solidFill>
                <a:schemeClr val="tx1"/>
              </a:solidFill>
              <a:miter lim="800000"/>
              <a:headEnd/>
              <a:tailEnd/>
            </a:ln>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Result Preparation</a:t>
              </a:r>
              <a:endParaRPr lang="en-IN" sz="1200">
                <a:effectLst/>
                <a:latin typeface="Times New Roman" panose="02020603050405020304" pitchFamily="18" charset="0"/>
                <a:ea typeface="Times New Roman" panose="02020603050405020304" pitchFamily="18" charset="0"/>
              </a:endParaRPr>
            </a:p>
          </p:txBody>
        </p:sp>
        <p:sp>
          <p:nvSpPr>
            <p:cNvPr id="23" name="Oval 22">
              <a:extLst>
                <a:ext uri="{FF2B5EF4-FFF2-40B4-BE49-F238E27FC236}">
                  <a16:creationId xmlns:a16="http://schemas.microsoft.com/office/drawing/2014/main" id="{5B83798E-0E30-B608-54F6-3DF00726BD4E}"/>
                </a:ext>
              </a:extLst>
            </p:cNvPr>
            <p:cNvSpPr/>
            <p:nvPr/>
          </p:nvSpPr>
          <p:spPr>
            <a:xfrm>
              <a:off x="6013450" y="1530350"/>
              <a:ext cx="171450" cy="1651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4" name="Oval 23">
              <a:extLst>
                <a:ext uri="{FF2B5EF4-FFF2-40B4-BE49-F238E27FC236}">
                  <a16:creationId xmlns:a16="http://schemas.microsoft.com/office/drawing/2014/main" id="{7BBAA935-F88F-7848-CF2C-A46A1FBACB1D}"/>
                </a:ext>
              </a:extLst>
            </p:cNvPr>
            <p:cNvSpPr/>
            <p:nvPr/>
          </p:nvSpPr>
          <p:spPr>
            <a:xfrm>
              <a:off x="6010275" y="5358765"/>
              <a:ext cx="171450" cy="1651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5" name="Oval 24">
              <a:extLst>
                <a:ext uri="{FF2B5EF4-FFF2-40B4-BE49-F238E27FC236}">
                  <a16:creationId xmlns:a16="http://schemas.microsoft.com/office/drawing/2014/main" id="{08C5217C-E897-DC5A-6454-C461801D3A0A}"/>
                </a:ext>
              </a:extLst>
            </p:cNvPr>
            <p:cNvSpPr/>
            <p:nvPr/>
          </p:nvSpPr>
          <p:spPr>
            <a:xfrm>
              <a:off x="6050280" y="5396865"/>
              <a:ext cx="90805" cy="8826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2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2C7109C1-7211-795B-BCAF-95B095899527}"/>
                </a:ext>
              </a:extLst>
            </p:cNvPr>
            <p:cNvCxnSpPr/>
            <p:nvPr/>
          </p:nvCxnSpPr>
          <p:spPr>
            <a:xfrm>
              <a:off x="6103620" y="2334895"/>
              <a:ext cx="0" cy="3403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3EBF884-E861-9121-AF72-9B5AC8AB6474}"/>
                </a:ext>
              </a:extLst>
            </p:cNvPr>
            <p:cNvCxnSpPr/>
            <p:nvPr/>
          </p:nvCxnSpPr>
          <p:spPr>
            <a:xfrm>
              <a:off x="6094095" y="3474085"/>
              <a:ext cx="0" cy="385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F696A9C-B9C9-802F-B339-585F547BFCFE}"/>
                </a:ext>
              </a:extLst>
            </p:cNvPr>
            <p:cNvCxnSpPr/>
            <p:nvPr/>
          </p:nvCxnSpPr>
          <p:spPr>
            <a:xfrm>
              <a:off x="6094095" y="4272280"/>
              <a:ext cx="0" cy="406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BF3FF7F6-4107-5486-E3EE-8C95A3C3ECDC}"/>
                </a:ext>
              </a:extLst>
            </p:cNvPr>
            <p:cNvCxnSpPr/>
            <p:nvPr/>
          </p:nvCxnSpPr>
          <p:spPr>
            <a:xfrm>
              <a:off x="6092825" y="1708785"/>
              <a:ext cx="0" cy="2165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B84926FB-081C-D09C-1FAF-7C1B4DEC1C18}"/>
                </a:ext>
              </a:extLst>
            </p:cNvPr>
            <p:cNvCxnSpPr/>
            <p:nvPr/>
          </p:nvCxnSpPr>
          <p:spPr>
            <a:xfrm>
              <a:off x="6094730" y="5102860"/>
              <a:ext cx="0" cy="229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9B23A814-325F-32E4-73AA-CDF2BDACD415}"/>
                </a:ext>
              </a:extLst>
            </p:cNvPr>
            <p:cNvCxnSpPr/>
            <p:nvPr/>
          </p:nvCxnSpPr>
          <p:spPr>
            <a:xfrm>
              <a:off x="6102350" y="291465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3" name="Text Box 2">
            <a:extLst>
              <a:ext uri="{FF2B5EF4-FFF2-40B4-BE49-F238E27FC236}">
                <a16:creationId xmlns:a16="http://schemas.microsoft.com/office/drawing/2014/main" id="{245B9ACD-E74A-DA92-C64B-24601DD64DEE}"/>
              </a:ext>
            </a:extLst>
          </p:cNvPr>
          <p:cNvSpPr txBox="1">
            <a:spLocks noChangeArrowheads="1"/>
          </p:cNvSpPr>
          <p:nvPr/>
        </p:nvSpPr>
        <p:spPr bwMode="auto">
          <a:xfrm>
            <a:off x="3563970" y="4067016"/>
            <a:ext cx="1280160" cy="554990"/>
          </a:xfrm>
          <a:prstGeom prst="rect">
            <a:avLst/>
          </a:prstGeom>
          <a:noFill/>
          <a:ln w="9525">
            <a:noFill/>
            <a:miter lim="800000"/>
            <a:headEnd/>
            <a:tailEnd/>
          </a:ln>
        </p:spPr>
        <p:txBody>
          <a:bodyPr rot="0" vert="horz" wrap="square" lIns="91440" tIns="45720" rIns="91440" bIns="45720" anchor="t" anchorCtr="0">
            <a:noAutofit/>
          </a:bodyPr>
          <a:lstStyle/>
          <a:p>
            <a:pPr algn="ctr"/>
            <a:r>
              <a:rPr lang="en-IN" sz="900">
                <a:effectLst/>
                <a:latin typeface="Times New Roman" panose="02020603050405020304" pitchFamily="18" charset="0"/>
                <a:ea typeface="Times New Roman" panose="02020603050405020304" pitchFamily="18" charset="0"/>
              </a:rPr>
              <a:t>Image</a:t>
            </a:r>
            <a:endParaRPr lang="en-IN" sz="1200">
              <a:effectLst/>
              <a:latin typeface="Times New Roman" panose="02020603050405020304" pitchFamily="18" charset="0"/>
              <a:ea typeface="Times New Roman" panose="02020603050405020304" pitchFamily="18" charset="0"/>
            </a:endParaRPr>
          </a:p>
          <a:p>
            <a:pPr algn="ctr"/>
            <a:r>
              <a:rPr lang="en-IN" sz="9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a:p>
            <a:pPr algn="ctr"/>
            <a:r>
              <a:rPr lang="en-IN" sz="900">
                <a:effectLst/>
                <a:latin typeface="Times New Roman" panose="02020603050405020304" pitchFamily="18" charset="0"/>
                <a:ea typeface="Times New Roman" panose="02020603050405020304" pitchFamily="18" charset="0"/>
              </a:rPr>
              <a:t>Submission</a:t>
            </a:r>
            <a:endParaRPr lang="en-IN" sz="1200">
              <a:effectLst/>
              <a:latin typeface="Times New Roman" panose="02020603050405020304" pitchFamily="18" charset="0"/>
              <a:ea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A5A81F5F-E86F-02BA-584F-EC65AD85AE2F}"/>
              </a:ext>
            </a:extLst>
          </p:cNvPr>
          <p:cNvCxnSpPr/>
          <p:nvPr/>
        </p:nvCxnSpPr>
        <p:spPr>
          <a:xfrm>
            <a:off x="3906870" y="4334237"/>
            <a:ext cx="5943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84EE1AD8-D013-0951-7220-3465ACD7E853}"/>
              </a:ext>
            </a:extLst>
          </p:cNvPr>
          <p:cNvGrpSpPr/>
          <p:nvPr/>
        </p:nvGrpSpPr>
        <p:grpSpPr>
          <a:xfrm>
            <a:off x="8595545" y="2455874"/>
            <a:ext cx="1670050" cy="2916555"/>
            <a:chOff x="5260975" y="1970723"/>
            <a:chExt cx="1670050" cy="2916555"/>
          </a:xfrm>
        </p:grpSpPr>
        <p:sp>
          <p:nvSpPr>
            <p:cNvPr id="35" name="Rectangle 34">
              <a:extLst>
                <a:ext uri="{FF2B5EF4-FFF2-40B4-BE49-F238E27FC236}">
                  <a16:creationId xmlns:a16="http://schemas.microsoft.com/office/drawing/2014/main" id="{9C5007AC-D8D9-63F3-5F5F-4C4314E82CE4}"/>
                </a:ext>
              </a:extLst>
            </p:cNvPr>
            <p:cNvSpPr/>
            <p:nvPr/>
          </p:nvSpPr>
          <p:spPr>
            <a:xfrm>
              <a:off x="5260975" y="1970723"/>
              <a:ext cx="1670050" cy="29165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Result Page</a:t>
              </a:r>
              <a:endParaRPr lang="en-IN" sz="1200">
                <a:effectLst/>
                <a:latin typeface="Times New Roman" panose="02020603050405020304" pitchFamily="18" charset="0"/>
                <a:ea typeface="Times New Roman" panose="02020603050405020304" pitchFamily="18" charset="0"/>
              </a:endParaRPr>
            </a:p>
          </p:txBody>
        </p:sp>
        <p:sp>
          <p:nvSpPr>
            <p:cNvPr id="36" name="Text Box 2">
              <a:extLst>
                <a:ext uri="{FF2B5EF4-FFF2-40B4-BE49-F238E27FC236}">
                  <a16:creationId xmlns:a16="http://schemas.microsoft.com/office/drawing/2014/main" id="{564218B0-19F2-3498-435D-D618DADA6FC2}"/>
                </a:ext>
              </a:extLst>
            </p:cNvPr>
            <p:cNvSpPr txBox="1">
              <a:spLocks noChangeArrowheads="1"/>
            </p:cNvSpPr>
            <p:nvPr/>
          </p:nvSpPr>
          <p:spPr bwMode="auto">
            <a:xfrm>
              <a:off x="5429250" y="2527618"/>
              <a:ext cx="1315085" cy="425450"/>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Classified Grid Display</a:t>
              </a:r>
              <a:endParaRPr lang="en-IN" sz="1200">
                <a:effectLst/>
                <a:latin typeface="Times New Roman" panose="02020603050405020304" pitchFamily="18" charset="0"/>
                <a:ea typeface="Times New Roman" panose="02020603050405020304" pitchFamily="18" charset="0"/>
              </a:endParaRPr>
            </a:p>
          </p:txBody>
        </p:sp>
        <p:sp>
          <p:nvSpPr>
            <p:cNvPr id="37" name="Text Box 2">
              <a:extLst>
                <a:ext uri="{FF2B5EF4-FFF2-40B4-BE49-F238E27FC236}">
                  <a16:creationId xmlns:a16="http://schemas.microsoft.com/office/drawing/2014/main" id="{3F63EFC4-678E-2F97-B091-201848EA5A55}"/>
                </a:ext>
              </a:extLst>
            </p:cNvPr>
            <p:cNvSpPr txBox="1">
              <a:spLocks noChangeArrowheads="1"/>
            </p:cNvSpPr>
            <p:nvPr/>
          </p:nvSpPr>
          <p:spPr bwMode="auto">
            <a:xfrm>
              <a:off x="5467985" y="3309303"/>
              <a:ext cx="1246505" cy="283210"/>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Image Grouping</a:t>
              </a:r>
              <a:endParaRPr lang="en-IN" sz="1200">
                <a:effectLst/>
                <a:latin typeface="Times New Roman" panose="02020603050405020304" pitchFamily="18" charset="0"/>
                <a:ea typeface="Times New Roman" panose="02020603050405020304" pitchFamily="18" charset="0"/>
              </a:endParaRPr>
            </a:p>
          </p:txBody>
        </p:sp>
        <p:sp>
          <p:nvSpPr>
            <p:cNvPr id="38" name="Text Box 2">
              <a:extLst>
                <a:ext uri="{FF2B5EF4-FFF2-40B4-BE49-F238E27FC236}">
                  <a16:creationId xmlns:a16="http://schemas.microsoft.com/office/drawing/2014/main" id="{733C878F-D74E-842B-DC37-167953E372F7}"/>
                </a:ext>
              </a:extLst>
            </p:cNvPr>
            <p:cNvSpPr txBox="1">
              <a:spLocks noChangeArrowheads="1"/>
            </p:cNvSpPr>
            <p:nvPr/>
          </p:nvSpPr>
          <p:spPr bwMode="auto">
            <a:xfrm>
              <a:off x="5444490" y="3936048"/>
              <a:ext cx="1324610" cy="395605"/>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Various Download Options</a:t>
              </a:r>
              <a:endParaRPr lang="en-IN" sz="1200">
                <a:effectLst/>
                <a:latin typeface="Times New Roman" panose="02020603050405020304" pitchFamily="18" charset="0"/>
                <a:ea typeface="Times New Roman" panose="02020603050405020304" pitchFamily="18" charset="0"/>
              </a:endParaRPr>
            </a:p>
          </p:txBody>
        </p:sp>
      </p:grpSp>
      <p:grpSp>
        <p:nvGrpSpPr>
          <p:cNvPr id="49" name="Group 48">
            <a:extLst>
              <a:ext uri="{FF2B5EF4-FFF2-40B4-BE49-F238E27FC236}">
                <a16:creationId xmlns:a16="http://schemas.microsoft.com/office/drawing/2014/main" id="{B31DD2D8-C029-A84B-9E29-F87832F33C5E}"/>
              </a:ext>
            </a:extLst>
          </p:cNvPr>
          <p:cNvGrpSpPr/>
          <p:nvPr/>
        </p:nvGrpSpPr>
        <p:grpSpPr>
          <a:xfrm>
            <a:off x="10335782" y="5149434"/>
            <a:ext cx="1670050" cy="1511300"/>
            <a:chOff x="5260975" y="2673350"/>
            <a:chExt cx="1670050" cy="1511300"/>
          </a:xfrm>
        </p:grpSpPr>
        <p:sp>
          <p:nvSpPr>
            <p:cNvPr id="46" name="Rectangle 45">
              <a:extLst>
                <a:ext uri="{FF2B5EF4-FFF2-40B4-BE49-F238E27FC236}">
                  <a16:creationId xmlns:a16="http://schemas.microsoft.com/office/drawing/2014/main" id="{B0F5281C-EC36-4A71-DC28-DBC7667B772E}"/>
                </a:ext>
              </a:extLst>
            </p:cNvPr>
            <p:cNvSpPr/>
            <p:nvPr/>
          </p:nvSpPr>
          <p:spPr>
            <a:xfrm>
              <a:off x="5260975" y="2673350"/>
              <a:ext cx="1670050" cy="151130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200">
                  <a:solidFill>
                    <a:srgbClr val="000000"/>
                  </a:solidFill>
                  <a:effectLst/>
                  <a:latin typeface="Times New Roman" panose="02020603050405020304" pitchFamily="18" charset="0"/>
                  <a:ea typeface="Times New Roman" panose="02020603050405020304" pitchFamily="18" charset="0"/>
                </a:rPr>
                <a:t>Logout Process</a:t>
              </a:r>
              <a:endParaRPr lang="en-IN" sz="1200">
                <a:effectLst/>
                <a:latin typeface="Times New Roman" panose="02020603050405020304" pitchFamily="18" charset="0"/>
                <a:ea typeface="Times New Roman" panose="02020603050405020304" pitchFamily="18" charset="0"/>
              </a:endParaRPr>
            </a:p>
          </p:txBody>
        </p:sp>
        <p:sp>
          <p:nvSpPr>
            <p:cNvPr id="47" name="Text Box 2">
              <a:extLst>
                <a:ext uri="{FF2B5EF4-FFF2-40B4-BE49-F238E27FC236}">
                  <a16:creationId xmlns:a16="http://schemas.microsoft.com/office/drawing/2014/main" id="{B94F948E-B3F5-43AF-00FF-4D86F410F89F}"/>
                </a:ext>
              </a:extLst>
            </p:cNvPr>
            <p:cNvSpPr txBox="1">
              <a:spLocks noChangeArrowheads="1"/>
            </p:cNvSpPr>
            <p:nvPr/>
          </p:nvSpPr>
          <p:spPr bwMode="auto">
            <a:xfrm>
              <a:off x="5435600" y="3147060"/>
              <a:ext cx="1324610" cy="263525"/>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Session Termination</a:t>
              </a:r>
              <a:endParaRPr lang="en-IN" sz="1200">
                <a:effectLst/>
                <a:latin typeface="Times New Roman" panose="02020603050405020304" pitchFamily="18" charset="0"/>
                <a:ea typeface="Times New Roman" panose="02020603050405020304" pitchFamily="18" charset="0"/>
              </a:endParaRPr>
            </a:p>
          </p:txBody>
        </p:sp>
        <p:sp>
          <p:nvSpPr>
            <p:cNvPr id="48" name="Text Box 2">
              <a:extLst>
                <a:ext uri="{FF2B5EF4-FFF2-40B4-BE49-F238E27FC236}">
                  <a16:creationId xmlns:a16="http://schemas.microsoft.com/office/drawing/2014/main" id="{7C86A661-C8F8-7A32-BC3D-DD12E0EADCAE}"/>
                </a:ext>
              </a:extLst>
            </p:cNvPr>
            <p:cNvSpPr txBox="1">
              <a:spLocks noChangeArrowheads="1"/>
            </p:cNvSpPr>
            <p:nvPr/>
          </p:nvSpPr>
          <p:spPr bwMode="auto">
            <a:xfrm>
              <a:off x="5441315" y="3595370"/>
              <a:ext cx="1324610" cy="263525"/>
            </a:xfrm>
            <a:prstGeom prst="rect">
              <a:avLst/>
            </a:prstGeom>
            <a:solidFill>
              <a:srgbClr val="FFC000"/>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rot="0" vert="horz" wrap="square" lIns="91440" tIns="45720" rIns="91440" bIns="45720" anchor="t" anchorCtr="0">
              <a:noAutofit/>
            </a:bodyPr>
            <a:lstStyle/>
            <a:p>
              <a:pPr algn="ctr"/>
              <a:r>
                <a:rPr lang="en-IN" sz="1000">
                  <a:solidFill>
                    <a:srgbClr val="000000"/>
                  </a:solidFill>
                  <a:effectLst/>
                  <a:latin typeface="Times New Roman" panose="02020603050405020304" pitchFamily="18" charset="0"/>
                  <a:ea typeface="Times New Roman" panose="02020603050405020304" pitchFamily="18" charset="0"/>
                </a:rPr>
                <a:t>Cache Clearing</a:t>
              </a:r>
              <a:endParaRPr lang="en-IN" sz="1200">
                <a:effectLst/>
                <a:latin typeface="Times New Roman" panose="02020603050405020304" pitchFamily="18" charset="0"/>
                <a:ea typeface="Times New Roman" panose="02020603050405020304" pitchFamily="18" charset="0"/>
              </a:endParaRPr>
            </a:p>
          </p:txBody>
        </p:sp>
      </p:grpSp>
      <p:sp>
        <p:nvSpPr>
          <p:cNvPr id="53" name="Text Box 2">
            <a:extLst>
              <a:ext uri="{FF2B5EF4-FFF2-40B4-BE49-F238E27FC236}">
                <a16:creationId xmlns:a16="http://schemas.microsoft.com/office/drawing/2014/main" id="{B41CBA65-0FF3-C6AD-BD0E-CC192D45E479}"/>
              </a:ext>
            </a:extLst>
          </p:cNvPr>
          <p:cNvSpPr txBox="1">
            <a:spLocks noChangeArrowheads="1"/>
          </p:cNvSpPr>
          <p:nvPr/>
        </p:nvSpPr>
        <p:spPr bwMode="auto">
          <a:xfrm>
            <a:off x="7650928" y="3519738"/>
            <a:ext cx="1280160" cy="596900"/>
          </a:xfrm>
          <a:prstGeom prst="rect">
            <a:avLst/>
          </a:prstGeom>
          <a:noFill/>
          <a:ln w="9525">
            <a:noFill/>
            <a:miter lim="800000"/>
            <a:headEnd/>
            <a:tailEnd/>
          </a:ln>
        </p:spPr>
        <p:txBody>
          <a:bodyPr rot="0" vert="horz" wrap="square" lIns="91440" tIns="45720" rIns="91440" bIns="45720" anchor="t" anchorCtr="0">
            <a:noAutofit/>
          </a:bodyPr>
          <a:lstStyle/>
          <a:p>
            <a:pPr algn="ctr"/>
            <a:r>
              <a:rPr lang="en-IN" sz="800" dirty="0">
                <a:effectLst/>
                <a:latin typeface="Times New Roman" panose="02020603050405020304" pitchFamily="18" charset="0"/>
                <a:ea typeface="Times New Roman" panose="02020603050405020304" pitchFamily="18" charset="0"/>
              </a:rPr>
              <a:t>Classification</a:t>
            </a:r>
            <a:endParaRPr lang="en-IN" sz="1200" dirty="0">
              <a:effectLst/>
              <a:latin typeface="Times New Roman" panose="02020603050405020304" pitchFamily="18" charset="0"/>
              <a:ea typeface="Times New Roman" panose="02020603050405020304" pitchFamily="18" charset="0"/>
            </a:endParaRPr>
          </a:p>
          <a:p>
            <a:pPr algn="ctr"/>
            <a:r>
              <a:rPr lang="en-IN" sz="8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algn="ctr"/>
            <a:r>
              <a:rPr lang="en-IN" sz="800" dirty="0">
                <a:effectLst/>
                <a:latin typeface="Times New Roman" panose="02020603050405020304" pitchFamily="18" charset="0"/>
                <a:ea typeface="Times New Roman" panose="02020603050405020304" pitchFamily="18" charset="0"/>
              </a:rPr>
              <a:t>Complete</a:t>
            </a:r>
            <a:endParaRPr lang="en-IN" sz="1200" dirty="0">
              <a:effectLst/>
              <a:latin typeface="Times New Roman" panose="02020603050405020304" pitchFamily="18" charset="0"/>
              <a:ea typeface="Times New Roman" panose="02020603050405020304" pitchFamily="18" charset="0"/>
            </a:endParaRPr>
          </a:p>
        </p:txBody>
      </p:sp>
      <p:cxnSp>
        <p:nvCxnSpPr>
          <p:cNvPr id="54" name="Straight Arrow Connector 53">
            <a:extLst>
              <a:ext uri="{FF2B5EF4-FFF2-40B4-BE49-F238E27FC236}">
                <a16:creationId xmlns:a16="http://schemas.microsoft.com/office/drawing/2014/main" id="{E9877ABC-CA1D-4B3E-2EF5-3555E32F5B7F}"/>
              </a:ext>
            </a:extLst>
          </p:cNvPr>
          <p:cNvCxnSpPr/>
          <p:nvPr/>
        </p:nvCxnSpPr>
        <p:spPr>
          <a:xfrm>
            <a:off x="7992468" y="3768142"/>
            <a:ext cx="5943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C119EE69-80CB-ECF6-1406-FB693EE2BF82}"/>
              </a:ext>
            </a:extLst>
          </p:cNvPr>
          <p:cNvCxnSpPr>
            <a:stCxn id="35" idx="2"/>
          </p:cNvCxnSpPr>
          <p:nvPr/>
        </p:nvCxnSpPr>
        <p:spPr>
          <a:xfrm>
            <a:off x="9430570" y="5380951"/>
            <a:ext cx="914400" cy="914400"/>
          </a:xfrm>
          <a:prstGeom prst="bentConnector3">
            <a:avLst>
              <a:gd name="adj1" fmla="val -562"/>
            </a:avLst>
          </a:prstGeom>
          <a:ln>
            <a:tailEnd type="triangle"/>
          </a:ln>
        </p:spPr>
        <p:style>
          <a:lnRef idx="1">
            <a:schemeClr val="dk1"/>
          </a:lnRef>
          <a:fillRef idx="0">
            <a:schemeClr val="dk1"/>
          </a:fillRef>
          <a:effectRef idx="0">
            <a:schemeClr val="dk1"/>
          </a:effectRef>
          <a:fontRef idx="minor">
            <a:schemeClr val="tx1"/>
          </a:fontRef>
        </p:style>
      </p:cxnSp>
      <p:sp>
        <p:nvSpPr>
          <p:cNvPr id="58" name="Text Box 2">
            <a:extLst>
              <a:ext uri="{FF2B5EF4-FFF2-40B4-BE49-F238E27FC236}">
                <a16:creationId xmlns:a16="http://schemas.microsoft.com/office/drawing/2014/main" id="{3E78D2FD-9A20-A76C-6D8D-D4FCCBD66234}"/>
              </a:ext>
            </a:extLst>
          </p:cNvPr>
          <p:cNvSpPr txBox="1">
            <a:spLocks noChangeArrowheads="1"/>
          </p:cNvSpPr>
          <p:nvPr/>
        </p:nvSpPr>
        <p:spPr bwMode="auto">
          <a:xfrm>
            <a:off x="9184450" y="6303417"/>
            <a:ext cx="1280160" cy="349250"/>
          </a:xfrm>
          <a:prstGeom prst="rect">
            <a:avLst/>
          </a:prstGeom>
          <a:noFill/>
          <a:ln w="9525">
            <a:noFill/>
            <a:miter lim="800000"/>
            <a:headEnd/>
            <a:tailEnd/>
          </a:ln>
        </p:spPr>
        <p:txBody>
          <a:bodyPr rot="0" vert="horz" wrap="square" lIns="91440" tIns="45720" rIns="91440" bIns="45720" anchor="t" anchorCtr="0">
            <a:noAutofit/>
          </a:bodyPr>
          <a:lstStyle/>
          <a:p>
            <a:pPr algn="ctr"/>
            <a:r>
              <a:rPr lang="en-IN" sz="1200">
                <a:effectLst/>
                <a:latin typeface="Times New Roman" panose="02020603050405020304" pitchFamily="18" charset="0"/>
                <a:ea typeface="Times New Roman" panose="02020603050405020304" pitchFamily="18" charset="0"/>
              </a:rPr>
              <a:t>User Logout</a:t>
            </a:r>
          </a:p>
        </p:txBody>
      </p:sp>
      <p:sp>
        <p:nvSpPr>
          <p:cNvPr id="59" name="Rectangle 58">
            <a:extLst>
              <a:ext uri="{FF2B5EF4-FFF2-40B4-BE49-F238E27FC236}">
                <a16:creationId xmlns:a16="http://schemas.microsoft.com/office/drawing/2014/main" id="{5AD97D0A-FC5F-98AE-2565-6FCFB5EDFD96}"/>
              </a:ext>
            </a:extLst>
          </p:cNvPr>
          <p:cNvSpPr/>
          <p:nvPr/>
        </p:nvSpPr>
        <p:spPr>
          <a:xfrm>
            <a:off x="10440852" y="346545"/>
            <a:ext cx="716863"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13</a:t>
            </a:r>
          </a:p>
        </p:txBody>
      </p:sp>
    </p:spTree>
    <p:extLst>
      <p:ext uri="{BB962C8B-B14F-4D97-AF65-F5344CB8AC3E}">
        <p14:creationId xmlns:p14="http://schemas.microsoft.com/office/powerpoint/2010/main" val="2906678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CAAE455-318F-AC0B-E626-8110CE319E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76260" y="383961"/>
            <a:ext cx="4947385" cy="6026991"/>
          </a:xfrm>
          <a:prstGeom prst="rect">
            <a:avLst/>
          </a:prstGeom>
          <a:noFill/>
          <a:ln>
            <a:noFill/>
          </a:ln>
        </p:spPr>
      </p:pic>
      <p:sp>
        <p:nvSpPr>
          <p:cNvPr id="12" name="Rectangle 11">
            <a:extLst>
              <a:ext uri="{FF2B5EF4-FFF2-40B4-BE49-F238E27FC236}">
                <a16:creationId xmlns:a16="http://schemas.microsoft.com/office/drawing/2014/main" id="{88B562C4-16E8-3109-00F2-3A43386841AD}"/>
              </a:ext>
            </a:extLst>
          </p:cNvPr>
          <p:cNvSpPr/>
          <p:nvPr/>
        </p:nvSpPr>
        <p:spPr>
          <a:xfrm>
            <a:off x="762409" y="2532230"/>
            <a:ext cx="3491661" cy="1323439"/>
          </a:xfrm>
          <a:prstGeom prst="rect">
            <a:avLst/>
          </a:prstGeom>
          <a:noFill/>
        </p:spPr>
        <p:txBody>
          <a:bodyPr wrap="none" lIns="91440" tIns="45720" rIns="91440" bIns="45720">
            <a:spAutoFit/>
          </a:bodyPr>
          <a:lstStyle/>
          <a:p>
            <a:r>
              <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Model</a:t>
            </a:r>
          </a:p>
          <a:p>
            <a:r>
              <a:rPr lang="en-US" sz="40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Architecture:</a:t>
            </a:r>
            <a:endPar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13" name="Rectangle 12">
            <a:extLst>
              <a:ext uri="{FF2B5EF4-FFF2-40B4-BE49-F238E27FC236}">
                <a16:creationId xmlns:a16="http://schemas.microsoft.com/office/drawing/2014/main" id="{4BDD9132-77C3-9426-522D-4FE84FB96B63}"/>
              </a:ext>
            </a:extLst>
          </p:cNvPr>
          <p:cNvSpPr/>
          <p:nvPr/>
        </p:nvSpPr>
        <p:spPr>
          <a:xfrm>
            <a:off x="10421602" y="356819"/>
            <a:ext cx="747320"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a:t>
            </a:r>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4</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Tree>
    <p:extLst>
      <p:ext uri="{BB962C8B-B14F-4D97-AF65-F5344CB8AC3E}">
        <p14:creationId xmlns:p14="http://schemas.microsoft.com/office/powerpoint/2010/main" val="3966787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A41D91E-A702-ACC4-1D1C-81A2970C3D27}"/>
              </a:ext>
            </a:extLst>
          </p:cNvPr>
          <p:cNvGraphicFramePr>
            <a:graphicFrameLocks noGrp="1"/>
          </p:cNvGraphicFramePr>
          <p:nvPr>
            <p:extLst>
              <p:ext uri="{D42A27DB-BD31-4B8C-83A1-F6EECF244321}">
                <p14:modId xmlns:p14="http://schemas.microsoft.com/office/powerpoint/2010/main" val="1570166484"/>
              </p:ext>
            </p:extLst>
          </p:nvPr>
        </p:nvGraphicFramePr>
        <p:xfrm>
          <a:off x="530058" y="2491618"/>
          <a:ext cx="5774490" cy="3701311"/>
        </p:xfrm>
        <a:graphic>
          <a:graphicData uri="http://schemas.openxmlformats.org/drawingml/2006/table">
            <a:tbl>
              <a:tblPr firstRow="1" firstCol="1" bandRow="1">
                <a:tableStyleId>{5202B0CA-FC54-4496-8BCA-5EF66A818D29}</a:tableStyleId>
              </a:tblPr>
              <a:tblGrid>
                <a:gridCol w="2887245">
                  <a:extLst>
                    <a:ext uri="{9D8B030D-6E8A-4147-A177-3AD203B41FA5}">
                      <a16:colId xmlns:a16="http://schemas.microsoft.com/office/drawing/2014/main" val="865051549"/>
                    </a:ext>
                  </a:extLst>
                </a:gridCol>
                <a:gridCol w="2887245">
                  <a:extLst>
                    <a:ext uri="{9D8B030D-6E8A-4147-A177-3AD203B41FA5}">
                      <a16:colId xmlns:a16="http://schemas.microsoft.com/office/drawing/2014/main" val="114949768"/>
                    </a:ext>
                  </a:extLst>
                </a:gridCol>
              </a:tblGrid>
              <a:tr h="416458">
                <a:tc>
                  <a:txBody>
                    <a:bodyPr/>
                    <a:lstStyle/>
                    <a:p>
                      <a:pPr>
                        <a:lnSpc>
                          <a:spcPct val="150000"/>
                        </a:lnSpc>
                        <a:buNone/>
                      </a:pPr>
                      <a:r>
                        <a:rPr lang="en-US" sz="1400">
                          <a:effectLst/>
                        </a:rPr>
                        <a:t>Metric</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Value</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240539576"/>
                  </a:ext>
                </a:extLst>
              </a:tr>
              <a:tr h="416458">
                <a:tc>
                  <a:txBody>
                    <a:bodyPr/>
                    <a:lstStyle/>
                    <a:p>
                      <a:pPr>
                        <a:lnSpc>
                          <a:spcPct val="150000"/>
                        </a:lnSpc>
                        <a:buNone/>
                      </a:pPr>
                      <a:r>
                        <a:rPr lang="en-US" sz="1400">
                          <a:effectLst/>
                        </a:rPr>
                        <a:t>Optimal Similarity Threshold</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0.854</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66136934"/>
                  </a:ext>
                </a:extLst>
              </a:tr>
              <a:tr h="416458">
                <a:tc>
                  <a:txBody>
                    <a:bodyPr/>
                    <a:lstStyle/>
                    <a:p>
                      <a:pPr>
                        <a:lnSpc>
                          <a:spcPct val="150000"/>
                        </a:lnSpc>
                        <a:buNone/>
                      </a:pPr>
                      <a:r>
                        <a:rPr lang="en-US" sz="1400">
                          <a:effectLst/>
                        </a:rPr>
                        <a:t>PR AUC</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0.829</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973636508"/>
                  </a:ext>
                </a:extLst>
              </a:tr>
              <a:tr h="416458">
                <a:tc>
                  <a:txBody>
                    <a:bodyPr/>
                    <a:lstStyle/>
                    <a:p>
                      <a:pPr>
                        <a:lnSpc>
                          <a:spcPct val="150000"/>
                        </a:lnSpc>
                        <a:buNone/>
                      </a:pPr>
                      <a:r>
                        <a:rPr lang="en-US" sz="1400">
                          <a:effectLst/>
                        </a:rPr>
                        <a:t>ROC AUC</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0.847</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75163695"/>
                  </a:ext>
                </a:extLst>
              </a:tr>
              <a:tr h="416458">
                <a:tc>
                  <a:txBody>
                    <a:bodyPr/>
                    <a:lstStyle/>
                    <a:p>
                      <a:pPr>
                        <a:lnSpc>
                          <a:spcPct val="150000"/>
                        </a:lnSpc>
                        <a:buNone/>
                      </a:pPr>
                      <a:r>
                        <a:rPr lang="en-US" sz="1400">
                          <a:effectLst/>
                        </a:rPr>
                        <a:t>t-SNE Clustering Quality</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Distinct clusters, minimal overlap</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98585088"/>
                  </a:ext>
                </a:extLst>
              </a:tr>
              <a:tr h="416458">
                <a:tc>
                  <a:txBody>
                    <a:bodyPr/>
                    <a:lstStyle/>
                    <a:p>
                      <a:pPr>
                        <a:lnSpc>
                          <a:spcPct val="150000"/>
                        </a:lnSpc>
                        <a:buNone/>
                      </a:pPr>
                      <a:r>
                        <a:rPr lang="en-US" sz="1400">
                          <a:effectLst/>
                        </a:rPr>
                        <a:t>Same Identity Mean Similarity</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≈0.94–0.98</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1612849"/>
                  </a:ext>
                </a:extLst>
              </a:tr>
              <a:tr h="416458">
                <a:tc>
                  <a:txBody>
                    <a:bodyPr/>
                    <a:lstStyle/>
                    <a:p>
                      <a:pPr>
                        <a:lnSpc>
                          <a:spcPct val="150000"/>
                        </a:lnSpc>
                        <a:buNone/>
                      </a:pPr>
                      <a:r>
                        <a:rPr lang="en-US" sz="1400">
                          <a:effectLst/>
                        </a:rPr>
                        <a:t>Different Identity Mean Similarity</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a:effectLst/>
                        </a:rPr>
                        <a:t>≈0.80–0.85</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7533492"/>
                  </a:ext>
                </a:extLst>
              </a:tr>
              <a:tr h="416458">
                <a:tc>
                  <a:txBody>
                    <a:bodyPr/>
                    <a:lstStyle/>
                    <a:p>
                      <a:pPr>
                        <a:lnSpc>
                          <a:spcPct val="150000"/>
                        </a:lnSpc>
                        <a:buNone/>
                      </a:pPr>
                      <a:r>
                        <a:rPr lang="en-US" sz="1400">
                          <a:effectLst/>
                        </a:rPr>
                        <a:t>Overall Accuracy</a:t>
                      </a:r>
                      <a:endParaRPr lang="en-IN"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nSpc>
                          <a:spcPct val="150000"/>
                        </a:lnSpc>
                        <a:buNone/>
                      </a:pPr>
                      <a:r>
                        <a:rPr lang="en-US" sz="1400" dirty="0">
                          <a:effectLst/>
                        </a:rPr>
                        <a:t>≈82%</a:t>
                      </a:r>
                      <a:endParaRPr lang="en-IN" sz="2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50291895"/>
                  </a:ext>
                </a:extLst>
              </a:tr>
            </a:tbl>
          </a:graphicData>
        </a:graphic>
      </p:graphicFrame>
      <p:sp>
        <p:nvSpPr>
          <p:cNvPr id="8" name="Rectangle 7">
            <a:extLst>
              <a:ext uri="{FF2B5EF4-FFF2-40B4-BE49-F238E27FC236}">
                <a16:creationId xmlns:a16="http://schemas.microsoft.com/office/drawing/2014/main" id="{D26A1F16-1183-8BDB-7AE9-1D4CA70F80DD}"/>
              </a:ext>
            </a:extLst>
          </p:cNvPr>
          <p:cNvSpPr/>
          <p:nvPr/>
        </p:nvSpPr>
        <p:spPr>
          <a:xfrm>
            <a:off x="666157" y="665071"/>
            <a:ext cx="3892412" cy="1138773"/>
          </a:xfrm>
          <a:prstGeom prst="rect">
            <a:avLst/>
          </a:prstGeom>
          <a:noFill/>
        </p:spPr>
        <p:txBody>
          <a:bodyPr wrap="none" lIns="91440" tIns="45720" rIns="91440" bIns="45720">
            <a:spAutoFit/>
          </a:bodyPr>
          <a:lstStyle/>
          <a:p>
            <a:r>
              <a:rPr lang="en-US" sz="40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Model</a:t>
            </a:r>
            <a:r>
              <a:rPr lang="en-US" sz="40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 Metrics:</a:t>
            </a:r>
          </a:p>
          <a:p>
            <a:r>
              <a:rPr lang="en-US" sz="28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Training and Testing</a:t>
            </a:r>
          </a:p>
        </p:txBody>
      </p:sp>
      <p:pic>
        <p:nvPicPr>
          <p:cNvPr id="9" name="Picture 8">
            <a:extLst>
              <a:ext uri="{FF2B5EF4-FFF2-40B4-BE49-F238E27FC236}">
                <a16:creationId xmlns:a16="http://schemas.microsoft.com/office/drawing/2014/main" id="{EAD495E9-1388-BBBC-D2D8-4F643E5A5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4548" y="2353377"/>
            <a:ext cx="5486400" cy="4114800"/>
          </a:xfrm>
          <a:prstGeom prst="rect">
            <a:avLst/>
          </a:prstGeom>
        </p:spPr>
      </p:pic>
      <p:sp>
        <p:nvSpPr>
          <p:cNvPr id="10" name="Rectangle 9">
            <a:extLst>
              <a:ext uri="{FF2B5EF4-FFF2-40B4-BE49-F238E27FC236}">
                <a16:creationId xmlns:a16="http://schemas.microsoft.com/office/drawing/2014/main" id="{604EB7AA-20B9-D2DD-F562-CB85FB986CF0}"/>
              </a:ext>
            </a:extLst>
          </p:cNvPr>
          <p:cNvSpPr/>
          <p:nvPr/>
        </p:nvSpPr>
        <p:spPr>
          <a:xfrm>
            <a:off x="10421602" y="356819"/>
            <a:ext cx="742511"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15</a:t>
            </a:r>
          </a:p>
        </p:txBody>
      </p:sp>
    </p:spTree>
    <p:extLst>
      <p:ext uri="{BB962C8B-B14F-4D97-AF65-F5344CB8AC3E}">
        <p14:creationId xmlns:p14="http://schemas.microsoft.com/office/powerpoint/2010/main" val="2098427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9203-83C1-B41D-00AE-D34AC9033F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38A1EA-B743-5ECC-4320-6F15F01A60DA}"/>
              </a:ext>
            </a:extLst>
          </p:cNvPr>
          <p:cNvSpPr/>
          <p:nvPr/>
        </p:nvSpPr>
        <p:spPr>
          <a:xfrm>
            <a:off x="702486" y="850858"/>
            <a:ext cx="4036682"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Futur</a:t>
            </a:r>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e Scope:</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F9DC1C91-EB86-6C0B-4E7F-EA73ADE3D378}"/>
              </a:ext>
            </a:extLst>
          </p:cNvPr>
          <p:cNvSpPr/>
          <p:nvPr/>
        </p:nvSpPr>
        <p:spPr>
          <a:xfrm>
            <a:off x="10421602" y="356819"/>
            <a:ext cx="744114"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16</a:t>
            </a:r>
          </a:p>
        </p:txBody>
      </p:sp>
      <p:sp>
        <p:nvSpPr>
          <p:cNvPr id="6" name="TextBox 5">
            <a:extLst>
              <a:ext uri="{FF2B5EF4-FFF2-40B4-BE49-F238E27FC236}">
                <a16:creationId xmlns:a16="http://schemas.microsoft.com/office/drawing/2014/main" id="{A90DEF77-F6FA-E459-E617-B6256E989622}"/>
              </a:ext>
            </a:extLst>
          </p:cNvPr>
          <p:cNvSpPr txBox="1"/>
          <p:nvPr/>
        </p:nvSpPr>
        <p:spPr>
          <a:xfrm>
            <a:off x="702486" y="2590822"/>
            <a:ext cx="5533927" cy="3693319"/>
          </a:xfrm>
          <a:prstGeom prst="rect">
            <a:avLst/>
          </a:prstGeom>
          <a:noFill/>
        </p:spPr>
        <p:txBody>
          <a:bodyPr wrap="square">
            <a:spAutoFit/>
          </a:bodyPr>
          <a:lstStyle/>
          <a:p>
            <a:pPr marL="342900" indent="-342900" algn="just">
              <a:buAutoNum type="arabicPeriod"/>
            </a:pPr>
            <a:r>
              <a:rPr lang="en-IN" sz="1800" b="1" dirty="0">
                <a:effectLst/>
                <a:ea typeface="Times New Roman" panose="02020603050405020304" pitchFamily="18" charset="0"/>
              </a:rPr>
              <a:t>Enhanced Feature Recognition</a:t>
            </a:r>
          </a:p>
          <a:p>
            <a:pPr marL="342900" indent="-342900" algn="just">
              <a:buAutoNum type="arabicPeriod"/>
            </a:pPr>
            <a:endParaRPr lang="en-IN" sz="1800" dirty="0">
              <a:effectLst/>
              <a:ea typeface="Times New Roman" panose="02020603050405020304" pitchFamily="18" charset="0"/>
            </a:endParaRPr>
          </a:p>
          <a:p>
            <a:pPr marL="285750" lvl="0" indent="-285750" algn="just">
              <a:buSzPts val="1000"/>
              <a:buFont typeface="Arial" panose="020B0604020202020204" pitchFamily="34" charset="0"/>
              <a:buChar char="•"/>
              <a:tabLst>
                <a:tab pos="457200" algn="l"/>
              </a:tabLst>
            </a:pPr>
            <a:r>
              <a:rPr lang="en-IN" sz="1800" dirty="0">
                <a:effectLst/>
                <a:ea typeface="Times New Roman" panose="02020603050405020304" pitchFamily="18" charset="0"/>
              </a:rPr>
              <a:t>Activity-Based Categorization:</a:t>
            </a:r>
            <a:endParaRPr lang="en-IN" dirty="0">
              <a:ea typeface="Times New Roman" panose="02020603050405020304" pitchFamily="18" charset="0"/>
            </a:endParaRPr>
          </a:p>
          <a:p>
            <a:pPr marL="285750" lvl="0" indent="-285750" algn="just">
              <a:buSzPts val="1000"/>
              <a:buFont typeface="Arial" panose="020B0604020202020204" pitchFamily="34" charset="0"/>
              <a:buChar char="•"/>
              <a:tabLst>
                <a:tab pos="457200" algn="l"/>
              </a:tabLst>
            </a:pPr>
            <a:r>
              <a:rPr lang="en-IN" sz="1800" dirty="0">
                <a:effectLst/>
                <a:ea typeface="Times New Roman" panose="02020603050405020304" pitchFamily="18" charset="0"/>
              </a:rPr>
              <a:t>Expression Analysis</a:t>
            </a:r>
          </a:p>
          <a:p>
            <a:pPr marL="285750" lvl="0" indent="-285750" algn="just">
              <a:buSzPts val="1000"/>
              <a:buFont typeface="Arial" panose="020B0604020202020204" pitchFamily="34" charset="0"/>
              <a:buChar char="•"/>
              <a:tabLst>
                <a:tab pos="457200" algn="l"/>
              </a:tabLst>
            </a:pPr>
            <a:r>
              <a:rPr lang="en-IN" sz="1800" dirty="0">
                <a:effectLst/>
                <a:ea typeface="Times New Roman" panose="02020603050405020304" pitchFamily="18" charset="0"/>
              </a:rPr>
              <a:t>Multi-Label Classification</a:t>
            </a:r>
          </a:p>
          <a:p>
            <a:pPr marL="285750" lvl="0" indent="-285750" algn="just">
              <a:buSzPts val="1000"/>
              <a:buFont typeface="Arial" panose="020B0604020202020204" pitchFamily="34" charset="0"/>
              <a:buChar char="•"/>
              <a:tabLst>
                <a:tab pos="457200" algn="l"/>
              </a:tabLst>
            </a:pPr>
            <a:endParaRPr lang="en-IN" sz="1800" dirty="0">
              <a:effectLst/>
              <a:ea typeface="Times New Roman" panose="02020603050405020304" pitchFamily="18" charset="0"/>
            </a:endParaRPr>
          </a:p>
          <a:p>
            <a:pPr algn="just">
              <a:buNone/>
            </a:pPr>
            <a:r>
              <a:rPr lang="en-IN" sz="1800" b="1" dirty="0">
                <a:effectLst/>
                <a:ea typeface="Times New Roman" panose="02020603050405020304" pitchFamily="18" charset="0"/>
              </a:rPr>
              <a:t>2. Scalability and Integration</a:t>
            </a:r>
          </a:p>
          <a:p>
            <a:pPr algn="just">
              <a:buNone/>
            </a:pPr>
            <a:endParaRPr lang="en-IN" sz="1800" dirty="0">
              <a:effectLst/>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1800" b="1" dirty="0">
                <a:effectLst/>
                <a:ea typeface="Times New Roman" panose="02020603050405020304" pitchFamily="18" charset="0"/>
              </a:rPr>
              <a:t>Integration with Photo Platforms:</a:t>
            </a:r>
            <a:r>
              <a:rPr lang="en-IN" sz="1800" dirty="0">
                <a:effectLst/>
                <a:ea typeface="Times New Roman" panose="02020603050405020304" pitchFamily="18" charset="0"/>
              </a:rPr>
              <a:t> Collaborate with popular platforms like Google Photos or social media for direct import and export of images.</a:t>
            </a:r>
          </a:p>
          <a:p>
            <a:pPr algn="just">
              <a:buNone/>
            </a:pPr>
            <a:r>
              <a:rPr lang="en-IN" sz="1800" dirty="0">
                <a:effectLst/>
                <a:ea typeface="Times New Roman" panose="02020603050405020304" pitchFamily="18" charset="0"/>
              </a:rPr>
              <a:t> </a:t>
            </a:r>
          </a:p>
        </p:txBody>
      </p:sp>
      <p:sp>
        <p:nvSpPr>
          <p:cNvPr id="9" name="TextBox 8">
            <a:extLst>
              <a:ext uri="{FF2B5EF4-FFF2-40B4-BE49-F238E27FC236}">
                <a16:creationId xmlns:a16="http://schemas.microsoft.com/office/drawing/2014/main" id="{CFBD6A54-EDAD-CA36-6445-5EDEB079582D}"/>
              </a:ext>
            </a:extLst>
          </p:cNvPr>
          <p:cNvSpPr txBox="1"/>
          <p:nvPr/>
        </p:nvSpPr>
        <p:spPr>
          <a:xfrm>
            <a:off x="6335470" y="2590821"/>
            <a:ext cx="5356521" cy="3416320"/>
          </a:xfrm>
          <a:prstGeom prst="rect">
            <a:avLst/>
          </a:prstGeom>
          <a:noFill/>
        </p:spPr>
        <p:txBody>
          <a:bodyPr wrap="square">
            <a:spAutoFit/>
          </a:bodyPr>
          <a:lstStyle/>
          <a:p>
            <a:pPr algn="just">
              <a:buNone/>
            </a:pPr>
            <a:r>
              <a:rPr lang="en-IN" sz="1800" b="1" dirty="0">
                <a:effectLst/>
                <a:ea typeface="Times New Roman" panose="02020603050405020304" pitchFamily="18" charset="0"/>
              </a:rPr>
              <a:t>3. Improved Accuracy</a:t>
            </a:r>
          </a:p>
          <a:p>
            <a:pPr algn="just">
              <a:buNone/>
            </a:pPr>
            <a:endParaRPr lang="en-IN" sz="1800" dirty="0">
              <a:effectLst/>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1800" dirty="0">
                <a:effectLst/>
                <a:ea typeface="Times New Roman" panose="02020603050405020304" pitchFamily="18" charset="0"/>
              </a:rPr>
              <a:t>Advanced Models</a:t>
            </a:r>
          </a:p>
          <a:p>
            <a:pPr marL="342900" lvl="0" indent="-342900" algn="just">
              <a:buSzPts val="1000"/>
              <a:buFont typeface="Symbol" panose="05050102010706020507" pitchFamily="18" charset="2"/>
              <a:buChar char=""/>
              <a:tabLst>
                <a:tab pos="457200" algn="l"/>
              </a:tabLst>
            </a:pPr>
            <a:r>
              <a:rPr lang="en-IN" sz="1800" dirty="0">
                <a:effectLst/>
                <a:ea typeface="Times New Roman" panose="02020603050405020304" pitchFamily="18" charset="0"/>
              </a:rPr>
              <a:t>Personalization</a:t>
            </a:r>
          </a:p>
          <a:p>
            <a:pPr lvl="0" algn="just">
              <a:buSzPts val="1000"/>
              <a:tabLst>
                <a:tab pos="457200" algn="l"/>
              </a:tabLst>
            </a:pPr>
            <a:endParaRPr lang="en-IN" b="1" dirty="0">
              <a:ea typeface="Times New Roman" panose="02020603050405020304" pitchFamily="18" charset="0"/>
            </a:endParaRPr>
          </a:p>
          <a:p>
            <a:pPr lvl="0" algn="just">
              <a:buSzPts val="1000"/>
              <a:tabLst>
                <a:tab pos="457200" algn="l"/>
              </a:tabLst>
            </a:pPr>
            <a:r>
              <a:rPr lang="en-IN" sz="1800" b="1" dirty="0">
                <a:effectLst/>
                <a:ea typeface="Times New Roman" panose="02020603050405020304" pitchFamily="18" charset="0"/>
              </a:rPr>
              <a:t>4. Mobile and Cross-Platform Support</a:t>
            </a:r>
          </a:p>
          <a:p>
            <a:pPr lvl="0" algn="just">
              <a:buSzPts val="1000"/>
              <a:tabLst>
                <a:tab pos="457200" algn="l"/>
              </a:tabLst>
            </a:pPr>
            <a:endParaRPr lang="en-IN" sz="1800" dirty="0">
              <a:effectLst/>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1800" dirty="0">
                <a:effectLst/>
                <a:ea typeface="Times New Roman" panose="02020603050405020304" pitchFamily="18" charset="0"/>
              </a:rPr>
              <a:t>Create a mobile app to allow users to organize photos on-the-go.</a:t>
            </a:r>
          </a:p>
          <a:p>
            <a:pPr marL="342900" lvl="0" indent="-342900" algn="just">
              <a:buSzPts val="1000"/>
              <a:buFont typeface="Symbol" panose="05050102010706020507" pitchFamily="18" charset="2"/>
              <a:buChar char=""/>
              <a:tabLst>
                <a:tab pos="457200" algn="l"/>
              </a:tabLst>
            </a:pPr>
            <a:r>
              <a:rPr lang="en-IN" sz="1800" dirty="0">
                <a:effectLst/>
                <a:ea typeface="Times New Roman" panose="02020603050405020304" pitchFamily="18" charset="0"/>
              </a:rPr>
              <a:t>Develop cross-platform compatibility for seamless operation on various devices and operating systems.</a:t>
            </a:r>
          </a:p>
        </p:txBody>
      </p:sp>
    </p:spTree>
    <p:extLst>
      <p:ext uri="{BB962C8B-B14F-4D97-AF65-F5344CB8AC3E}">
        <p14:creationId xmlns:p14="http://schemas.microsoft.com/office/powerpoint/2010/main" val="4035762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445F-AB07-CFB5-6407-FA5BFCB46BD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FBD128F-319E-FA88-C5F8-848182AFB48F}"/>
              </a:ext>
            </a:extLst>
          </p:cNvPr>
          <p:cNvSpPr/>
          <p:nvPr/>
        </p:nvSpPr>
        <p:spPr>
          <a:xfrm>
            <a:off x="702486" y="850858"/>
            <a:ext cx="3514104"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Conclusion</a:t>
            </a:r>
            <a:r>
              <a:rPr lang="en-US" sz="440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a:t>
            </a:r>
            <a:endPar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endParaRPr>
          </a:p>
        </p:txBody>
      </p:sp>
      <p:sp>
        <p:nvSpPr>
          <p:cNvPr id="3" name="Rectangle 2">
            <a:extLst>
              <a:ext uri="{FF2B5EF4-FFF2-40B4-BE49-F238E27FC236}">
                <a16:creationId xmlns:a16="http://schemas.microsoft.com/office/drawing/2014/main" id="{FFE220B3-AB72-068B-8213-1CECDF799ED4}"/>
              </a:ext>
            </a:extLst>
          </p:cNvPr>
          <p:cNvSpPr/>
          <p:nvPr/>
        </p:nvSpPr>
        <p:spPr>
          <a:xfrm>
            <a:off x="10430578" y="356819"/>
            <a:ext cx="697627" cy="769441"/>
          </a:xfrm>
          <a:prstGeom prst="rect">
            <a:avLst/>
          </a:prstGeom>
          <a:noFill/>
        </p:spPr>
        <p:txBody>
          <a:bodyPr wrap="none" lIns="91440" tIns="45720" rIns="91440" bIns="45720">
            <a:spAutoFit/>
          </a:bodyPr>
          <a:lstStyle/>
          <a:p>
            <a:r>
              <a:rPr lang="en-US" sz="4400" b="0" cap="none" spc="0" dirty="0">
                <a:ln w="0"/>
                <a:solidFill>
                  <a:schemeClr val="bg1"/>
                </a:solidFill>
                <a:effectLst>
                  <a:innerShdw blurRad="63500" dist="50800" dir="16200000">
                    <a:prstClr val="black">
                      <a:alpha val="50000"/>
                    </a:prstClr>
                  </a:innerShdw>
                </a:effectLst>
                <a:latin typeface="Poppins Medium" panose="00000600000000000000" pitchFamily="2" charset="0"/>
                <a:cs typeface="Poppins Medium" panose="00000600000000000000" pitchFamily="2" charset="0"/>
              </a:rPr>
              <a:t>17</a:t>
            </a:r>
          </a:p>
        </p:txBody>
      </p:sp>
      <p:sp>
        <p:nvSpPr>
          <p:cNvPr id="5" name="TextBox 4">
            <a:extLst>
              <a:ext uri="{FF2B5EF4-FFF2-40B4-BE49-F238E27FC236}">
                <a16:creationId xmlns:a16="http://schemas.microsoft.com/office/drawing/2014/main" id="{AE0E66F2-5C90-0782-D0D2-1A11A7A677FB}"/>
              </a:ext>
            </a:extLst>
          </p:cNvPr>
          <p:cNvSpPr txBox="1"/>
          <p:nvPr/>
        </p:nvSpPr>
        <p:spPr>
          <a:xfrm>
            <a:off x="702486" y="2467532"/>
            <a:ext cx="8318224" cy="3970318"/>
          </a:xfrm>
          <a:prstGeom prst="rect">
            <a:avLst/>
          </a:prstGeom>
          <a:noFill/>
        </p:spPr>
        <p:txBody>
          <a:bodyPr wrap="square">
            <a:spAutoFit/>
          </a:bodyPr>
          <a:lstStyle>
            <a:defPPr>
              <a:defRPr lang="en-US"/>
            </a:defPPr>
            <a:lvl1pPr indent="0">
              <a:buFont typeface="Arial" panose="020B0604020202020204" pitchFamily="34" charset="0"/>
              <a:buNone/>
              <a:defRPr sz="1050"/>
            </a:lvl1pPr>
          </a:lstStyle>
          <a:p>
            <a:r>
              <a:rPr lang="en-IN" sz="1800" dirty="0"/>
              <a:t>The project discussed above provides the foundational technology for "</a:t>
            </a:r>
            <a:r>
              <a:rPr lang="en-IN" sz="1800" dirty="0" err="1"/>
              <a:t>Albumify</a:t>
            </a:r>
            <a:r>
              <a:rPr lang="en-IN" sz="1800" dirty="0"/>
              <a:t>," a platform designed to revolutionize photo management for shared events and galleries. By leveraging advanced face recognition and classification techniques, the project automates the identification and categorization of images based on user-specified faces.</a:t>
            </a:r>
          </a:p>
          <a:p>
            <a:r>
              <a:rPr lang="en-IN" sz="1800" dirty="0"/>
              <a:t> </a:t>
            </a:r>
          </a:p>
          <a:p>
            <a:r>
              <a:rPr lang="en-IN" sz="1800" dirty="0"/>
              <a:t>The implemented pipeline, comprising robust face detection, alignment, normalization, and embedding generation using deep learning models, ensures high accuracy and reliability in face classification. Features like batch processing, visualization, and customizable similarity thresholds enhance the user experience.</a:t>
            </a:r>
          </a:p>
          <a:p>
            <a:endParaRPr lang="en-IN" sz="1800" dirty="0"/>
          </a:p>
          <a:p>
            <a:r>
              <a:rPr lang="en-IN" sz="1800" dirty="0"/>
              <a:t>"</a:t>
            </a:r>
            <a:r>
              <a:rPr lang="en-IN" sz="1800" dirty="0" err="1"/>
              <a:t>Albumify</a:t>
            </a:r>
            <a:r>
              <a:rPr lang="en-IN" sz="1800" dirty="0"/>
              <a:t>" addresses a critical need in the digital age: managing and curating large, shared photo collections with ease.</a:t>
            </a:r>
          </a:p>
        </p:txBody>
      </p:sp>
      <p:pic>
        <p:nvPicPr>
          <p:cNvPr id="7170" name="Picture 2" descr="ML - Machine Learning Technology concept vector thin line vertical banner  32491718 Vector Art at Vecteezy">
            <a:extLst>
              <a:ext uri="{FF2B5EF4-FFF2-40B4-BE49-F238E27FC236}">
                <a16:creationId xmlns:a16="http://schemas.microsoft.com/office/drawing/2014/main" id="{088A4C2A-2169-8F44-2F28-9DB02F9265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07" t="9887" r="19797" b="9514"/>
          <a:stretch/>
        </p:blipFill>
        <p:spPr bwMode="auto">
          <a:xfrm>
            <a:off x="9215919" y="2269432"/>
            <a:ext cx="2473483" cy="436651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121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64D1-2C95-5CED-ADAB-F6158E31CB40}"/>
            </a:ext>
          </a:extLst>
        </p:cNvPr>
        <p:cNvGrpSpPr/>
        <p:nvPr/>
      </p:nvGrpSpPr>
      <p:grpSpPr>
        <a:xfrm>
          <a:off x="0" y="0"/>
          <a:ext cx="0" cy="0"/>
          <a:chOff x="0" y="0"/>
          <a:chExt cx="0" cy="0"/>
        </a:xfrm>
      </p:grpSpPr>
      <p:pic>
        <p:nvPicPr>
          <p:cNvPr id="3" name="Graphic 2" descr="Angel face with no fill">
            <a:extLst>
              <a:ext uri="{FF2B5EF4-FFF2-40B4-BE49-F238E27FC236}">
                <a16:creationId xmlns:a16="http://schemas.microsoft.com/office/drawing/2014/main" id="{C8D9A7F0-52A0-29EF-E8A8-B8CB36A421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54883" y="412984"/>
            <a:ext cx="665045" cy="665045"/>
          </a:xfrm>
          <a:prstGeom prst="rect">
            <a:avLst/>
          </a:prstGeom>
        </p:spPr>
      </p:pic>
      <p:sp>
        <p:nvSpPr>
          <p:cNvPr id="4" name="Rectangle 3">
            <a:extLst>
              <a:ext uri="{FF2B5EF4-FFF2-40B4-BE49-F238E27FC236}">
                <a16:creationId xmlns:a16="http://schemas.microsoft.com/office/drawing/2014/main" id="{EAAE8F0B-E7A1-1869-EC21-61EC6E7146E2}"/>
              </a:ext>
            </a:extLst>
          </p:cNvPr>
          <p:cNvSpPr/>
          <p:nvPr/>
        </p:nvSpPr>
        <p:spPr>
          <a:xfrm>
            <a:off x="2915481" y="2918896"/>
            <a:ext cx="6361037" cy="1323439"/>
          </a:xfrm>
          <a:prstGeom prst="rect">
            <a:avLst/>
          </a:prstGeom>
          <a:noFill/>
        </p:spPr>
        <p:txBody>
          <a:bodyPr wrap="none" lIns="91440" tIns="45720" rIns="91440" bIns="45720">
            <a:spAutoFit/>
          </a:bodyPr>
          <a:lstStyle/>
          <a:p>
            <a:pPr algn="ctr"/>
            <a:r>
              <a:rPr lang="en-US" sz="8000" b="0" cap="none" spc="0" dirty="0">
                <a:ln w="0"/>
                <a:solidFill>
                  <a:sysClr val="windowText" lastClr="000000"/>
                </a:solidFill>
                <a:effectLst>
                  <a:innerShdw blurRad="63500" dist="50800" dir="16200000">
                    <a:prstClr val="black">
                      <a:alpha val="50000"/>
                    </a:prstClr>
                  </a:innerShdw>
                </a:effectLst>
                <a:latin typeface="Segoe Script" panose="030B0504020000000003" pitchFamily="66" charset="0"/>
                <a:cs typeface="Poppins Medium" panose="00000600000000000000" pitchFamily="2" charset="0"/>
              </a:rPr>
              <a:t>Thank You</a:t>
            </a:r>
          </a:p>
        </p:txBody>
      </p:sp>
      <p:grpSp>
        <p:nvGrpSpPr>
          <p:cNvPr id="19" name="Group 18">
            <a:extLst>
              <a:ext uri="{FF2B5EF4-FFF2-40B4-BE49-F238E27FC236}">
                <a16:creationId xmlns:a16="http://schemas.microsoft.com/office/drawing/2014/main" id="{D614AFE6-C7A1-9E43-7213-E7043977901C}"/>
              </a:ext>
            </a:extLst>
          </p:cNvPr>
          <p:cNvGrpSpPr/>
          <p:nvPr/>
        </p:nvGrpSpPr>
        <p:grpSpPr>
          <a:xfrm>
            <a:off x="1903892" y="497308"/>
            <a:ext cx="8384213" cy="6991272"/>
            <a:chOff x="2899247" y="1029830"/>
            <a:chExt cx="6872793" cy="5862292"/>
          </a:xfrm>
        </p:grpSpPr>
        <p:pic>
          <p:nvPicPr>
            <p:cNvPr id="5" name="Graphic 4" descr="Images">
              <a:extLst>
                <a:ext uri="{FF2B5EF4-FFF2-40B4-BE49-F238E27FC236}">
                  <a16:creationId xmlns:a16="http://schemas.microsoft.com/office/drawing/2014/main" id="{3DC8ED90-CECD-4036-9164-ABA481FC00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50624" y="1410085"/>
              <a:ext cx="760511" cy="760511"/>
            </a:xfrm>
            <a:prstGeom prst="rect">
              <a:avLst/>
            </a:prstGeom>
          </p:spPr>
        </p:pic>
        <p:pic>
          <p:nvPicPr>
            <p:cNvPr id="6" name="Graphic 5" descr="Image">
              <a:extLst>
                <a:ext uri="{FF2B5EF4-FFF2-40B4-BE49-F238E27FC236}">
                  <a16:creationId xmlns:a16="http://schemas.microsoft.com/office/drawing/2014/main" id="{72FDC79D-8FEA-3974-29B2-7B6805DF0C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69417" y="4520734"/>
              <a:ext cx="760511" cy="760511"/>
            </a:xfrm>
            <a:prstGeom prst="rect">
              <a:avLst/>
            </a:prstGeom>
          </p:spPr>
        </p:pic>
        <p:pic>
          <p:nvPicPr>
            <p:cNvPr id="7" name="Graphic 6" descr="Camera">
              <a:extLst>
                <a:ext uri="{FF2B5EF4-FFF2-40B4-BE49-F238E27FC236}">
                  <a16:creationId xmlns:a16="http://schemas.microsoft.com/office/drawing/2014/main" id="{E0D77836-E8F0-5490-FC03-04105966E4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65244" y="5138223"/>
              <a:ext cx="760511" cy="760511"/>
            </a:xfrm>
            <a:prstGeom prst="rect">
              <a:avLst/>
            </a:prstGeom>
          </p:spPr>
        </p:pic>
        <p:pic>
          <p:nvPicPr>
            <p:cNvPr id="8" name="Graphic 7" descr="Film reel">
              <a:extLst>
                <a:ext uri="{FF2B5EF4-FFF2-40B4-BE49-F238E27FC236}">
                  <a16:creationId xmlns:a16="http://schemas.microsoft.com/office/drawing/2014/main" id="{39164463-742E-0EB7-7D38-1D6D0DC2BCD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01189" y="4456570"/>
              <a:ext cx="760511" cy="760511"/>
            </a:xfrm>
            <a:prstGeom prst="rect">
              <a:avLst/>
            </a:prstGeom>
          </p:spPr>
        </p:pic>
        <p:pic>
          <p:nvPicPr>
            <p:cNvPr id="9" name="Graphic 8" descr="Open folder">
              <a:extLst>
                <a:ext uri="{FF2B5EF4-FFF2-40B4-BE49-F238E27FC236}">
                  <a16:creationId xmlns:a16="http://schemas.microsoft.com/office/drawing/2014/main" id="{D4A2D40C-5D27-B942-1873-463B04F386E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52093" y="5095272"/>
              <a:ext cx="760511" cy="760511"/>
            </a:xfrm>
            <a:prstGeom prst="rect">
              <a:avLst/>
            </a:prstGeom>
          </p:spPr>
        </p:pic>
        <p:pic>
          <p:nvPicPr>
            <p:cNvPr id="10" name="Graphic 9" descr="Male profile">
              <a:extLst>
                <a:ext uri="{FF2B5EF4-FFF2-40B4-BE49-F238E27FC236}">
                  <a16:creationId xmlns:a16="http://schemas.microsoft.com/office/drawing/2014/main" id="{385BEFC4-C05B-28E9-8BD1-2D976DF0C4D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72683" y="1029830"/>
              <a:ext cx="760511" cy="760511"/>
            </a:xfrm>
            <a:prstGeom prst="rect">
              <a:avLst/>
            </a:prstGeom>
          </p:spPr>
        </p:pic>
        <p:pic>
          <p:nvPicPr>
            <p:cNvPr id="11" name="Graphic 10" descr="Internet">
              <a:extLst>
                <a:ext uri="{FF2B5EF4-FFF2-40B4-BE49-F238E27FC236}">
                  <a16:creationId xmlns:a16="http://schemas.microsoft.com/office/drawing/2014/main" id="{6C38E3AC-CBFC-A3B5-B833-D542897ACAE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172145" y="1574145"/>
              <a:ext cx="760511" cy="760511"/>
            </a:xfrm>
            <a:prstGeom prst="rect">
              <a:avLst/>
            </a:prstGeom>
          </p:spPr>
        </p:pic>
        <p:sp>
          <p:nvSpPr>
            <p:cNvPr id="12" name="Arc 11">
              <a:extLst>
                <a:ext uri="{FF2B5EF4-FFF2-40B4-BE49-F238E27FC236}">
                  <a16:creationId xmlns:a16="http://schemas.microsoft.com/office/drawing/2014/main" id="{75F31F47-719E-ED49-BF40-BE1DD9629A30}"/>
                </a:ext>
              </a:extLst>
            </p:cNvPr>
            <p:cNvSpPr/>
            <p:nvPr/>
          </p:nvSpPr>
          <p:spPr>
            <a:xfrm rot="3871165" flipV="1">
              <a:off x="3051165" y="2050701"/>
              <a:ext cx="2028166" cy="209429"/>
            </a:xfrm>
            <a:prstGeom prst="arc">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ysClr val="windowText" lastClr="000000"/>
                </a:solidFill>
              </a:endParaRPr>
            </a:p>
          </p:txBody>
        </p:sp>
        <p:sp>
          <p:nvSpPr>
            <p:cNvPr id="13" name="Arc 12">
              <a:extLst>
                <a:ext uri="{FF2B5EF4-FFF2-40B4-BE49-F238E27FC236}">
                  <a16:creationId xmlns:a16="http://schemas.microsoft.com/office/drawing/2014/main" id="{94653F77-6BC9-594D-49DA-C80465FDBCDF}"/>
                </a:ext>
              </a:extLst>
            </p:cNvPr>
            <p:cNvSpPr/>
            <p:nvPr/>
          </p:nvSpPr>
          <p:spPr>
            <a:xfrm rot="1567753">
              <a:off x="3961838" y="1340660"/>
              <a:ext cx="2541422" cy="1982808"/>
            </a:xfrm>
            <a:prstGeom prst="arc">
              <a:avLst>
                <a:gd name="adj1" fmla="val 18505222"/>
                <a:gd name="adj2" fmla="val 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ysClr val="windowText" lastClr="000000"/>
                </a:solidFill>
              </a:endParaRPr>
            </a:p>
          </p:txBody>
        </p:sp>
        <p:sp>
          <p:nvSpPr>
            <p:cNvPr id="14" name="Arc 13">
              <a:extLst>
                <a:ext uri="{FF2B5EF4-FFF2-40B4-BE49-F238E27FC236}">
                  <a16:creationId xmlns:a16="http://schemas.microsoft.com/office/drawing/2014/main" id="{433E5FD0-292B-2608-E411-80921A3B3110}"/>
                </a:ext>
              </a:extLst>
            </p:cNvPr>
            <p:cNvSpPr/>
            <p:nvPr/>
          </p:nvSpPr>
          <p:spPr>
            <a:xfrm flipH="1">
              <a:off x="7496380" y="1954401"/>
              <a:ext cx="2275660" cy="1945177"/>
            </a:xfrm>
            <a:prstGeom prst="arc">
              <a:avLst>
                <a:gd name="adj1" fmla="val 18258718"/>
                <a:gd name="adj2" fmla="val 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ysClr val="windowText" lastClr="000000"/>
                </a:solidFill>
              </a:endParaRPr>
            </a:p>
          </p:txBody>
        </p:sp>
        <p:sp>
          <p:nvSpPr>
            <p:cNvPr id="15" name="Arc 14">
              <a:extLst>
                <a:ext uri="{FF2B5EF4-FFF2-40B4-BE49-F238E27FC236}">
                  <a16:creationId xmlns:a16="http://schemas.microsoft.com/office/drawing/2014/main" id="{FA6D1D30-7090-2A07-F6AF-D5A0E3336467}"/>
                </a:ext>
              </a:extLst>
            </p:cNvPr>
            <p:cNvSpPr/>
            <p:nvPr/>
          </p:nvSpPr>
          <p:spPr>
            <a:xfrm rot="5400000" flipH="1">
              <a:off x="6173321" y="4387252"/>
              <a:ext cx="3005768" cy="2003972"/>
            </a:xfrm>
            <a:prstGeom prst="arc">
              <a:avLst>
                <a:gd name="adj1" fmla="val 18739410"/>
                <a:gd name="adj2" fmla="val 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ysClr val="windowText" lastClr="000000"/>
                </a:solidFill>
              </a:endParaRPr>
            </a:p>
          </p:txBody>
        </p:sp>
        <p:sp>
          <p:nvSpPr>
            <p:cNvPr id="16" name="Arc 15">
              <a:extLst>
                <a:ext uri="{FF2B5EF4-FFF2-40B4-BE49-F238E27FC236}">
                  <a16:creationId xmlns:a16="http://schemas.microsoft.com/office/drawing/2014/main" id="{49110238-845F-EEF5-C0A8-527F63A2FCA2}"/>
                </a:ext>
              </a:extLst>
            </p:cNvPr>
            <p:cNvSpPr/>
            <p:nvPr/>
          </p:nvSpPr>
          <p:spPr>
            <a:xfrm rot="5042565">
              <a:off x="2716659" y="2690581"/>
              <a:ext cx="2387359" cy="2022184"/>
            </a:xfrm>
            <a:prstGeom prst="arc">
              <a:avLst>
                <a:gd name="adj1" fmla="val 17853820"/>
                <a:gd name="adj2" fmla="val 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ysClr val="windowText" lastClr="000000"/>
                </a:solidFill>
              </a:endParaRPr>
            </a:p>
          </p:txBody>
        </p:sp>
        <p:sp>
          <p:nvSpPr>
            <p:cNvPr id="17" name="Arc 16">
              <a:extLst>
                <a:ext uri="{FF2B5EF4-FFF2-40B4-BE49-F238E27FC236}">
                  <a16:creationId xmlns:a16="http://schemas.microsoft.com/office/drawing/2014/main" id="{D9F9CAD4-86B8-7E23-3C58-D256ABA822FC}"/>
                </a:ext>
              </a:extLst>
            </p:cNvPr>
            <p:cNvSpPr/>
            <p:nvPr/>
          </p:nvSpPr>
          <p:spPr>
            <a:xfrm rot="19263973" flipH="1">
              <a:off x="7131813" y="3667255"/>
              <a:ext cx="685117" cy="2895434"/>
            </a:xfrm>
            <a:prstGeom prst="arc">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ysClr val="windowText" lastClr="000000"/>
                </a:solidFill>
              </a:endParaRPr>
            </a:p>
          </p:txBody>
        </p:sp>
        <p:sp>
          <p:nvSpPr>
            <p:cNvPr id="18" name="Arc 17">
              <a:extLst>
                <a:ext uri="{FF2B5EF4-FFF2-40B4-BE49-F238E27FC236}">
                  <a16:creationId xmlns:a16="http://schemas.microsoft.com/office/drawing/2014/main" id="{0B46CE84-ECCB-D895-FEAC-6CF732B55FA1}"/>
                </a:ext>
              </a:extLst>
            </p:cNvPr>
            <p:cNvSpPr/>
            <p:nvPr/>
          </p:nvSpPr>
          <p:spPr>
            <a:xfrm rot="2309313">
              <a:off x="4944659" y="3738970"/>
              <a:ext cx="575781" cy="2401422"/>
            </a:xfrm>
            <a:prstGeom prst="arc">
              <a:avLst>
                <a:gd name="adj1" fmla="val 16222352"/>
                <a:gd name="adj2" fmla="val 1262615"/>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ysClr val="windowText" lastClr="000000"/>
                </a:solidFill>
              </a:endParaRPr>
            </a:p>
          </p:txBody>
        </p:sp>
      </p:grpSp>
    </p:spTree>
    <p:extLst>
      <p:ext uri="{BB962C8B-B14F-4D97-AF65-F5344CB8AC3E}">
        <p14:creationId xmlns:p14="http://schemas.microsoft.com/office/powerpoint/2010/main" val="41303127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
  <TotalTime>317</TotalTime>
  <Words>1110</Words>
  <Application>Microsoft Office PowerPoint</Application>
  <PresentationFormat>Widescreen</PresentationFormat>
  <Paragraphs>179</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Canva Sans</vt:lpstr>
      <vt:lpstr>Canva Sans Bold</vt:lpstr>
      <vt:lpstr>Century Gothic</vt:lpstr>
      <vt:lpstr>Poppins Medium</vt:lpstr>
      <vt:lpstr>Segoe Script</vt:lpstr>
      <vt:lpstr>Symbol</vt:lpstr>
      <vt:lpstr>Times New Roman</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Khush Desai</dc:creator>
  <cp:lastModifiedBy>Khush Desai</cp:lastModifiedBy>
  <cp:revision>71</cp:revision>
  <dcterms:created xsi:type="dcterms:W3CDTF">2025-01-17T02:34:26Z</dcterms:created>
  <dcterms:modified xsi:type="dcterms:W3CDTF">2025-05-20T17:17:59Z</dcterms:modified>
</cp:coreProperties>
</file>